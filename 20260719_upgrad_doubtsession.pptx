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Century Schoolbook"/>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CenturySchoolbook-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CenturySchoolbook-italic.fntdata"/><Relationship Id="rId21" Type="http://schemas.openxmlformats.org/officeDocument/2006/relationships/slide" Target="slides/slide15.xml"/><Relationship Id="rId43" Type="http://schemas.openxmlformats.org/officeDocument/2006/relationships/font" Target="fonts/CenturySchoolbook-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CenturySchoolboo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55a8d07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55a8d07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55a8d072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55a8d072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55a8d072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55a8d072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55a8d072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55a8d072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5a8d072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55a8d072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55a8d072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55a8d072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5a8d072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55a8d072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5a8d072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55a8d072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5a8d072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55a8d072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5a8d072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5a8d072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55a8d072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55a8d072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5a8d072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5a8d072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55a8d072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55a8d072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55a8d072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55a8d072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55a8d072e_0_1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55a8d072e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5a8d072e_0_1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55a8d072e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55a8d072e_0_1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f55a8d072e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55a8d072e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55a8d072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55a8d072e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55a8d072e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55a8d072e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55a8d072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55a8d072e_0_2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f55a8d072e_0_2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55a8d072e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g3f55a8d072e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f55a8d072e_0_291:notes"/>
          <p:cNvSpPr txBox="1"/>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entury Schoolbook"/>
              <a:buNone/>
            </a:pPr>
            <a:fld id="{00000000-1234-1234-1234-123412341234}" type="slidenum">
              <a:rPr b="0" i="0" lang="en" sz="1200" u="none" cap="none" strike="noStrike">
                <a:solidFill>
                  <a:schemeClr val="dk1"/>
                </a:solidFill>
                <a:latin typeface="Century Schoolbook"/>
                <a:ea typeface="Century Schoolbook"/>
                <a:cs typeface="Century Schoolbook"/>
                <a:sym typeface="Century Schoolbook"/>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55a8d072e_0_2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f55a8d072e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55a8d072e_0_3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55a8d072e_0_3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55a8d072e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55a8d072e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55a8d072e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55a8d072e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55a8d072e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55a8d072e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55a8d072e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55a8d072e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55a8d072e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55a8d072e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55a8d072e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55a8d072e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5a8d072e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55a8d072e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55a8d072e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55a8d072e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55a8d072e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55a8d072e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55a8d072e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55a8d072e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5493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2800"/>
              <a:buNone/>
              <a:defRPr>
                <a:solidFill>
                  <a:srgbClr val="017058"/>
                </a:solidFill>
              </a:defRPr>
            </a:lvl1pPr>
            <a:lvl2pPr lvl="1" algn="l">
              <a:lnSpc>
                <a:spcPct val="90000"/>
              </a:lnSpc>
              <a:spcBef>
                <a:spcPts val="0"/>
              </a:spcBef>
              <a:spcAft>
                <a:spcPts val="0"/>
              </a:spcAft>
              <a:buSzPts val="2800"/>
              <a:buNone/>
              <a:defRPr/>
            </a:lvl2pPr>
            <a:lvl3pPr lvl="2" algn="l">
              <a:lnSpc>
                <a:spcPct val="90000"/>
              </a:lnSpc>
              <a:spcBef>
                <a:spcPts val="0"/>
              </a:spcBef>
              <a:spcAft>
                <a:spcPts val="0"/>
              </a:spcAft>
              <a:buSzPts val="2800"/>
              <a:buNone/>
              <a:defRPr/>
            </a:lvl3pPr>
            <a:lvl4pPr lvl="3" algn="l">
              <a:lnSpc>
                <a:spcPct val="90000"/>
              </a:lnSpc>
              <a:spcBef>
                <a:spcPts val="0"/>
              </a:spcBef>
              <a:spcAft>
                <a:spcPts val="0"/>
              </a:spcAft>
              <a:buSzPts val="2800"/>
              <a:buNone/>
              <a:defRPr/>
            </a:lvl4pPr>
            <a:lvl5pPr lvl="4" algn="l">
              <a:lnSpc>
                <a:spcPct val="90000"/>
              </a:lnSpc>
              <a:spcBef>
                <a:spcPts val="0"/>
              </a:spcBef>
              <a:spcAft>
                <a:spcPts val="0"/>
              </a:spcAft>
              <a:buSzPts val="2800"/>
              <a:buNone/>
              <a:defRPr/>
            </a:lvl5pPr>
            <a:lvl6pPr lvl="5" algn="l">
              <a:lnSpc>
                <a:spcPct val="90000"/>
              </a:lnSpc>
              <a:spcBef>
                <a:spcPts val="0"/>
              </a:spcBef>
              <a:spcAft>
                <a:spcPts val="0"/>
              </a:spcAft>
              <a:buSzPts val="2800"/>
              <a:buNone/>
              <a:defRPr/>
            </a:lvl6pPr>
            <a:lvl7pPr lvl="6" algn="l">
              <a:lnSpc>
                <a:spcPct val="90000"/>
              </a:lnSpc>
              <a:spcBef>
                <a:spcPts val="0"/>
              </a:spcBef>
              <a:spcAft>
                <a:spcPts val="0"/>
              </a:spcAft>
              <a:buSzPts val="2800"/>
              <a:buNone/>
              <a:defRPr/>
            </a:lvl7pPr>
            <a:lvl8pPr lvl="7" algn="l">
              <a:lnSpc>
                <a:spcPct val="90000"/>
              </a:lnSpc>
              <a:spcBef>
                <a:spcPts val="0"/>
              </a:spcBef>
              <a:spcAft>
                <a:spcPts val="0"/>
              </a:spcAft>
              <a:buSzPts val="2800"/>
              <a:buNone/>
              <a:defRPr/>
            </a:lvl8pPr>
            <a:lvl9pPr lvl="8" algn="l">
              <a:lnSpc>
                <a:spcPct val="90000"/>
              </a:lnSpc>
              <a:spcBef>
                <a:spcPts val="0"/>
              </a:spcBef>
              <a:spcAft>
                <a:spcPts val="0"/>
              </a:spcAft>
              <a:buSzPts val="2800"/>
              <a:buNone/>
              <a:defRPr/>
            </a:lvl9pPr>
          </a:lstStyle>
          <a:p/>
        </p:txBody>
      </p:sp>
      <p:sp>
        <p:nvSpPr>
          <p:cNvPr id="52" name="Google Shape;52;p13"/>
          <p:cNvSpPr txBox="1"/>
          <p:nvPr>
            <p:ph idx="1" type="body"/>
          </p:nvPr>
        </p:nvSpPr>
        <p:spPr>
          <a:xfrm>
            <a:off x="628650" y="1103812"/>
            <a:ext cx="7886700" cy="352890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rgbClr val="0070C0"/>
              </a:buClr>
              <a:buSzPts val="2100"/>
              <a:buChar char="●"/>
              <a:defRPr b="1">
                <a:solidFill>
                  <a:srgbClr val="0070C0"/>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900">
                <a:solidFill>
                  <a:srgbClr val="898989"/>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b="1" sz="900">
                <a:solidFill>
                  <a:srgbClr val="1B1810"/>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1pPr>
            <a:lvl2pPr indent="0" lvl="1"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2pPr>
            <a:lvl3pPr indent="0" lvl="2"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3pPr>
            <a:lvl4pPr indent="0" lvl="3"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4pPr>
            <a:lvl5pPr indent="0" lvl="4"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5pPr>
            <a:lvl6pPr indent="0" lvl="5"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6pPr>
            <a:lvl7pPr indent="0" lvl="6"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7pPr>
            <a:lvl8pPr indent="0" lvl="7"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8pPr>
            <a:lvl9pPr indent="0" lvl="8"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5493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1100"/>
              <a:buNone/>
              <a:defRPr>
                <a:solidFill>
                  <a:srgbClr val="017058"/>
                </a:solidFill>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64" name="Google Shape;64;p15"/>
          <p:cNvSpPr txBox="1"/>
          <p:nvPr>
            <p:ph idx="1" type="body"/>
          </p:nvPr>
        </p:nvSpPr>
        <p:spPr>
          <a:xfrm>
            <a:off x="628650" y="1103812"/>
            <a:ext cx="7886700" cy="352890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Clr>
                <a:srgbClr val="0070C0"/>
              </a:buClr>
              <a:buSzPts val="2100"/>
              <a:buChar char="•"/>
              <a:defRPr b="1">
                <a:solidFill>
                  <a:srgbClr val="0070C0"/>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900">
                <a:solidFill>
                  <a:srgbClr val="898989"/>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b="1" sz="900">
                <a:solidFill>
                  <a:srgbClr val="1B181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1pPr>
            <a:lvl2pPr indent="0" lvl="1"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2pPr>
            <a:lvl3pPr indent="0" lvl="2"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3pPr>
            <a:lvl4pPr indent="0" lvl="3"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4pPr>
            <a:lvl5pPr indent="0" lvl="4"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5pPr>
            <a:lvl6pPr indent="0" lvl="5"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6pPr>
            <a:lvl7pPr indent="0" lvl="6"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7pPr>
            <a:lvl8pPr indent="0" lvl="7"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8pPr>
            <a:lvl9pPr indent="0" lvl="8"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FE2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1pPr>
            <a:lvl2pPr lvl="1"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2pPr>
            <a:lvl3pPr lvl="2"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3pPr>
            <a:lvl4pPr lvl="3"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4pPr>
            <a:lvl5pPr lvl="4"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5pPr>
            <a:lvl6pPr lvl="5"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6pPr>
            <a:lvl7pPr lvl="6"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7pPr>
            <a:lvl8pPr lvl="7"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8pPr>
            <a:lvl9pPr lvl="8" marR="0" algn="l">
              <a:lnSpc>
                <a:spcPct val="90000"/>
              </a:lnSpc>
              <a:spcBef>
                <a:spcPts val="0"/>
              </a:spcBef>
              <a:spcAft>
                <a:spcPts val="0"/>
              </a:spcAft>
              <a:buSzPts val="1100"/>
              <a:buNone/>
              <a:defRPr b="0" i="0" sz="3300" u="none" cap="none" strike="noStrike">
                <a:solidFill>
                  <a:schemeClr val="dk1"/>
                </a:solidFill>
                <a:latin typeface="Century Schoolbook"/>
                <a:ea typeface="Century Schoolbook"/>
                <a:cs typeface="Century Schoolbook"/>
                <a:sym typeface="Century Schoolbook"/>
              </a:defRPr>
            </a:lvl9pPr>
          </a:lstStyle>
          <a:p/>
        </p:txBody>
      </p:sp>
      <p:sp>
        <p:nvSpPr>
          <p:cNvPr id="58" name="Google Shape;58;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entury Schoolbook"/>
                <a:ea typeface="Century Schoolbook"/>
                <a:cs typeface="Century Schoolbook"/>
                <a:sym typeface="Century Schoolbook"/>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entury Schoolbook"/>
                <a:ea typeface="Century Schoolbook"/>
                <a:cs typeface="Century Schoolbook"/>
                <a:sym typeface="Century Schoolbook"/>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entury Schoolbook"/>
                <a:ea typeface="Century Schoolbook"/>
                <a:cs typeface="Century Schoolbook"/>
                <a:sym typeface="Century Schoolbook"/>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entury Schoolbook"/>
                <a:ea typeface="Century Schoolbook"/>
                <a:cs typeface="Century Schoolbook"/>
                <a:sym typeface="Century Schoolbook"/>
              </a:defRPr>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SzPts val="1100"/>
              <a:buNone/>
              <a:defRPr b="0" i="0" sz="900" u="none" cap="none" strike="noStrike">
                <a:solidFill>
                  <a:srgbClr val="898989"/>
                </a:solidFill>
                <a:latin typeface="Century Schoolbook"/>
                <a:ea typeface="Century Schoolbook"/>
                <a:cs typeface="Century Schoolbook"/>
                <a:sym typeface="Century Schoolbook"/>
              </a:defRPr>
            </a:lvl1pPr>
            <a:lvl2pPr lvl="1"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2pPr>
            <a:lvl3pPr lvl="2"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3pPr>
            <a:lvl4pPr lvl="3"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4pPr>
            <a:lvl5pPr lvl="4"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5pPr>
            <a:lvl6pPr lvl="5"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6pPr>
            <a:lvl7pPr lvl="6"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7pPr>
            <a:lvl8pPr lvl="7"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8pPr>
            <a:lvl9pPr lvl="8"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SzPts val="1100"/>
              <a:buNone/>
              <a:defRPr b="1" i="0" sz="900" u="none" cap="none" strike="noStrike">
                <a:solidFill>
                  <a:srgbClr val="1B1810"/>
                </a:solidFill>
                <a:latin typeface="Century Schoolbook"/>
                <a:ea typeface="Century Schoolbook"/>
                <a:cs typeface="Century Schoolbook"/>
                <a:sym typeface="Century Schoolbook"/>
              </a:defRPr>
            </a:lvl1pPr>
            <a:lvl2pPr lvl="1"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2pPr>
            <a:lvl3pPr lvl="2"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3pPr>
            <a:lvl4pPr lvl="3"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4pPr>
            <a:lvl5pPr lvl="4"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5pPr>
            <a:lvl6pPr lvl="5"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6pPr>
            <a:lvl7pPr lvl="6"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7pPr>
            <a:lvl8pPr lvl="7"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8pPr>
            <a:lvl9pPr lvl="8" marR="0" algn="l">
              <a:lnSpc>
                <a:spcPct val="100000"/>
              </a:lnSpc>
              <a:spcBef>
                <a:spcPts val="0"/>
              </a:spcBef>
              <a:spcAft>
                <a:spcPts val="0"/>
              </a:spcAft>
              <a:buSzPts val="1100"/>
              <a:buNone/>
              <a:defRPr b="0" i="0" sz="1400" u="none" cap="none" strike="noStrike">
                <a:solidFill>
                  <a:schemeClr val="dk1"/>
                </a:solidFill>
                <a:latin typeface="Century Schoolbook"/>
                <a:ea typeface="Century Schoolbook"/>
                <a:cs typeface="Century Schoolbook"/>
                <a:sym typeface="Century Schoolbook"/>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1pPr>
            <a:lvl2pPr indent="0" lvl="1"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2pPr>
            <a:lvl3pPr indent="0" lvl="2"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3pPr>
            <a:lvl4pPr indent="0" lvl="3"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4pPr>
            <a:lvl5pPr indent="0" lvl="4"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5pPr>
            <a:lvl6pPr indent="0" lvl="5"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6pPr>
            <a:lvl7pPr indent="0" lvl="6"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7pPr>
            <a:lvl8pPr indent="0" lvl="7"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8pPr>
            <a:lvl9pPr indent="0" lvl="8" marL="0" marR="0" algn="r">
              <a:lnSpc>
                <a:spcPct val="100000"/>
              </a:lnSpc>
              <a:spcBef>
                <a:spcPts val="0"/>
              </a:spcBef>
              <a:spcAft>
                <a:spcPts val="0"/>
              </a:spcAft>
              <a:buClr>
                <a:srgbClr val="898989"/>
              </a:buClr>
              <a:buSzPts val="900"/>
              <a:buFont typeface="Century Schoolbook"/>
              <a:buNone/>
              <a:defRPr b="0" i="0" sz="900" u="none" cap="none" strike="noStrike">
                <a:solidFill>
                  <a:srgbClr val="898989"/>
                </a:solidFill>
                <a:latin typeface="Century Schoolbook"/>
                <a:ea typeface="Century Schoolbook"/>
                <a:cs typeface="Century Schoolbook"/>
                <a:sym typeface="Century Schoolbook"/>
              </a:defRPr>
            </a:lvl9pPr>
          </a:lstStyle>
          <a:p>
            <a:pPr indent="0" lvl="0" marL="0" rtl="0" algn="r">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25.png"/><Relationship Id="rId9"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png"/><Relationship Id="rId7" Type="http://schemas.openxmlformats.org/officeDocument/2006/relationships/image" Target="../media/image10.png"/><Relationship Id="rId8"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Doubt Resolution</a:t>
            </a:r>
            <a:endParaRPr/>
          </a:p>
        </p:txBody>
      </p:sp>
      <p:sp>
        <p:nvSpPr>
          <p:cNvPr id="73" name="Google Shape;73;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Module - 1</a:t>
            </a:r>
            <a:endParaRPr/>
          </a:p>
        </p:txBody>
      </p:sp>
      <p:sp>
        <p:nvSpPr>
          <p:cNvPr id="74" name="Google Shape;74;p16"/>
          <p:cNvSpPr txBox="1"/>
          <p:nvPr>
            <p:ph idx="12" type="sldNum"/>
          </p:nvPr>
        </p:nvSpPr>
        <p:spPr>
          <a:xfrm>
            <a:off x="7932692" y="4663225"/>
            <a:ext cx="10884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19/06/2026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400">
                <a:solidFill>
                  <a:schemeClr val="dk1"/>
                </a:solidFill>
              </a:rPr>
              <a:t>Sreekumar MS</a:t>
            </a:r>
            <a:endParaRPr sz="1400">
              <a:solidFill>
                <a:schemeClr val="dk1"/>
              </a:solidFill>
            </a:endParaRPr>
          </a:p>
          <a:p>
            <a:pPr indent="0" lvl="0" marL="0" rtl="0" algn="l">
              <a:spcBef>
                <a:spcPts val="0"/>
              </a:spcBef>
              <a:spcAft>
                <a:spcPts val="1200"/>
              </a:spcAft>
              <a:buNone/>
            </a:pPr>
            <a:r>
              <a:rPr b="1" lang="en" sz="1400">
                <a:solidFill>
                  <a:schemeClr val="dk1"/>
                </a:solidFill>
              </a:rPr>
              <a:t>We have learned a few of the Supervised and Unsupervised learning algorithms. I see a lot of others listed in the ML books. Can we quickly brief upon others that we have not discussed, why they are relevant or not relevant, so that we have a complete intuition of the ML learning landscape and can refer and learn those at our own pace later. On a </a:t>
            </a:r>
            <a:r>
              <a:rPr b="1" lang="en" sz="1400">
                <a:solidFill>
                  <a:schemeClr val="dk1"/>
                </a:solidFill>
              </a:rPr>
              <a:t>separate</a:t>
            </a:r>
            <a:r>
              <a:rPr b="1" lang="en" sz="1400">
                <a:solidFill>
                  <a:schemeClr val="dk1"/>
                </a:solidFill>
              </a:rPr>
              <a:t> note we have discussed academic datasets and problems during our review. Can Professors at IIT share one of their real life projects(image processing, geo/climate informatics.. etc), the challenges they faced and walk us through the scenarios so that we can see how theory was put into practice.?</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1</a:t>
            </a:r>
            <a:endParaRPr/>
          </a:p>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000">
                <a:solidFill>
                  <a:schemeClr val="dk1"/>
                </a:solidFill>
              </a:rPr>
              <a:t>Data analysis, pre-processing and visualization, ML workflow, cross-validation, error types and performance metrics  </a:t>
            </a:r>
            <a:endParaRPr/>
          </a:p>
        </p:txBody>
      </p:sp>
      <p:sp>
        <p:nvSpPr>
          <p:cNvPr id="86" name="Google Shape;8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Amol Shrikrishna Tathe</a:t>
            </a:r>
            <a:endParaRPr sz="1000">
              <a:solidFill>
                <a:srgbClr val="000000"/>
              </a:solidFill>
            </a:endParaRPr>
          </a:p>
          <a:p>
            <a:pPr indent="0" lvl="0" marL="0" rtl="0" algn="l">
              <a:spcBef>
                <a:spcPts val="0"/>
              </a:spcBef>
              <a:spcAft>
                <a:spcPts val="0"/>
              </a:spcAft>
              <a:buNone/>
            </a:pPr>
            <a:r>
              <a:rPr b="1" lang="en" sz="1000">
                <a:solidFill>
                  <a:srgbClr val="000000"/>
                </a:solidFill>
              </a:rPr>
              <a:t>1. </a:t>
            </a:r>
            <a:r>
              <a:rPr b="1" lang="en" sz="1000">
                <a:solidFill>
                  <a:srgbClr val="000000"/>
                </a:solidFill>
              </a:rPr>
              <a:t>Need to understand with simple real example once again</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Manoj Majumdar</a:t>
            </a:r>
            <a:endParaRPr sz="1000">
              <a:solidFill>
                <a:srgbClr val="000000"/>
              </a:solidFill>
            </a:endParaRPr>
          </a:p>
          <a:p>
            <a:pPr indent="0" lvl="0" marL="0" rtl="0" algn="l">
              <a:spcBef>
                <a:spcPts val="0"/>
              </a:spcBef>
              <a:spcAft>
                <a:spcPts val="0"/>
              </a:spcAft>
              <a:buNone/>
            </a:pPr>
            <a:r>
              <a:rPr b="1" lang="en" sz="1000">
                <a:solidFill>
                  <a:srgbClr val="000000"/>
                </a:solidFill>
              </a:rPr>
              <a:t>2. Please provide practical use cases, taking a problem scenario faced in large industries with huge data, and how that gets solved using </a:t>
            </a:r>
            <a:endParaRPr b="1" sz="1000">
              <a:solidFill>
                <a:srgbClr val="000000"/>
              </a:solidFill>
            </a:endParaRPr>
          </a:p>
          <a:p>
            <a:pPr indent="0" lvl="0" marL="0" rtl="0" algn="l">
              <a:spcBef>
                <a:spcPts val="0"/>
              </a:spcBef>
              <a:spcAft>
                <a:spcPts val="0"/>
              </a:spcAft>
              <a:buNone/>
            </a:pPr>
            <a:r>
              <a:rPr b="1" lang="en" sz="1000">
                <a:solidFill>
                  <a:srgbClr val="000000"/>
                </a:solidFill>
              </a:rPr>
              <a:t>ML libraries. Also discuss when to use which library.</a:t>
            </a:r>
            <a:endParaRPr b="1" sz="1000">
              <a:solidFill>
                <a:srgbClr val="000000"/>
              </a:solidFill>
            </a:endParaRPr>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2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chemeClr val="dk1"/>
                </a:solidFill>
              </a:rPr>
              <a:t>Libraries:</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Numpy</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Pandas</a:t>
            </a:r>
            <a:endParaRPr>
              <a:solidFill>
                <a:schemeClr val="dk1"/>
              </a:solidFill>
            </a:endParaRPr>
          </a:p>
          <a:p>
            <a:pPr indent="0" lvl="0" marL="457200" rtl="0" algn="l">
              <a:lnSpc>
                <a:spcPct val="100000"/>
              </a:lnSpc>
              <a:spcBef>
                <a:spcPts val="1200"/>
              </a:spcBef>
              <a:spcAft>
                <a:spcPts val="0"/>
              </a:spcAft>
              <a:buNone/>
            </a:pPr>
            <a:r>
              <a:rPr lang="en">
                <a:solidFill>
                  <a:schemeClr val="dk1"/>
                </a:solidFill>
              </a:rPr>
              <a:t>MatplotLib</a:t>
            </a:r>
            <a:endParaRPr>
              <a:solidFill>
                <a:schemeClr val="dk1"/>
              </a:solidFill>
            </a:endParaRPr>
          </a:p>
          <a:p>
            <a:pPr indent="0" lvl="0" marL="457200" rtl="0" algn="l">
              <a:lnSpc>
                <a:spcPct val="100000"/>
              </a:lnSpc>
              <a:spcBef>
                <a:spcPts val="1200"/>
              </a:spcBef>
              <a:spcAft>
                <a:spcPts val="1200"/>
              </a:spcAft>
              <a:buNone/>
            </a:pPr>
            <a:r>
              <a:rPr lang="en">
                <a:solidFill>
                  <a:schemeClr val="dk1"/>
                </a:solidFill>
              </a:rPr>
              <a:t>Scikit Learn</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idx="1" type="body"/>
          </p:nvPr>
        </p:nvSpPr>
        <p:spPr>
          <a:xfrm>
            <a:off x="114650" y="731200"/>
            <a:ext cx="8520600" cy="3931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00">
                <a:solidFill>
                  <a:srgbClr val="000000"/>
                </a:solidFill>
              </a:rPr>
              <a:t>Ramkumar Pitchai</a:t>
            </a:r>
            <a:endParaRPr sz="1000">
              <a:solidFill>
                <a:srgbClr val="000000"/>
              </a:solidFill>
            </a:endParaRPr>
          </a:p>
          <a:p>
            <a:pPr indent="0" lvl="0" marL="0" rtl="0" algn="l">
              <a:spcBef>
                <a:spcPts val="0"/>
              </a:spcBef>
              <a:spcAft>
                <a:spcPts val="0"/>
              </a:spcAft>
              <a:buNone/>
            </a:pPr>
            <a:r>
              <a:rPr b="1" lang="en" sz="1000">
                <a:solidFill>
                  <a:srgbClr val="000000"/>
                </a:solidFill>
              </a:rPr>
              <a:t>3. Lot of concepts were taught, however, the big picture was missing. I want to understand the sequence of steps such as EDA, Pre-Processing, De-duplicating and so on and how they fit together when we come up with a solution. What are the standard pre-requisite steps along with their sample implementation.</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Aruna dubey</a:t>
            </a:r>
            <a:endParaRPr sz="1000">
              <a:solidFill>
                <a:srgbClr val="000000"/>
              </a:solidFill>
            </a:endParaRPr>
          </a:p>
          <a:p>
            <a:pPr indent="0" lvl="0" marL="0" rtl="0" algn="l">
              <a:spcBef>
                <a:spcPts val="0"/>
              </a:spcBef>
              <a:spcAft>
                <a:spcPts val="0"/>
              </a:spcAft>
              <a:buNone/>
            </a:pPr>
            <a:r>
              <a:rPr b="1" lang="en" sz="1000">
                <a:solidFill>
                  <a:srgbClr val="000000"/>
                </a:solidFill>
              </a:rPr>
              <a:t>What is ML workflow, cross validation,error types and performance metrics?</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Ajit Kumar Polai</a:t>
            </a:r>
            <a:endParaRPr sz="1000">
              <a:solidFill>
                <a:srgbClr val="000000"/>
              </a:solidFill>
            </a:endParaRPr>
          </a:p>
          <a:p>
            <a:pPr indent="0" lvl="0" marL="0" rtl="0" algn="l">
              <a:spcBef>
                <a:spcPts val="0"/>
              </a:spcBef>
              <a:spcAft>
                <a:spcPts val="0"/>
              </a:spcAft>
              <a:buNone/>
            </a:pPr>
            <a:r>
              <a:rPr b="1" lang="en" sz="1000">
                <a:solidFill>
                  <a:srgbClr val="000000"/>
                </a:solidFill>
              </a:rPr>
              <a:t>4. 1. As we have followed one type of dataset and we did same kind of data analysis and preprocessing. Overally considering real time projects, What analysis and activity should be done before train test split and what all after split and also what can be done before or after split. 2. We have different imputing, scaling, etc techniques. Can you explain different techniques and which techniques is best suitable for which type of dataset. 3. We covered many concepts related to model and optimization techniques. So I want to understand the thought process we should have to develop the model for the given dataset. Like after getting dataset first we have to indentify the problem type whether it is regression or classification. If it is regression what things should be considered like that.</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Akshay Ranga H</a:t>
            </a:r>
            <a:endParaRPr sz="1000">
              <a:solidFill>
                <a:srgbClr val="000000"/>
              </a:solidFill>
            </a:endParaRPr>
          </a:p>
          <a:p>
            <a:pPr indent="0" lvl="0" marL="0" rtl="0" algn="l">
              <a:spcBef>
                <a:spcPts val="0"/>
              </a:spcBef>
              <a:spcAft>
                <a:spcPts val="0"/>
              </a:spcAft>
              <a:buNone/>
            </a:pPr>
            <a:r>
              <a:rPr b="1" lang="en" sz="1000">
                <a:solidFill>
                  <a:srgbClr val="000000"/>
                </a:solidFill>
              </a:rPr>
              <a:t>5. There are n number of preprocessing techniques and the lecture was good enough. But what i fail to under is the intuition of what to do and what type of pre-processing techniques to apply for various kind of numerical and text like data and for multi variate analysis is missed!</a:t>
            </a:r>
            <a:endParaRPr b="1" sz="1000">
              <a:solidFill>
                <a:srgbClr val="000000"/>
              </a:solidFill>
            </a:endParaRPr>
          </a:p>
          <a:p>
            <a:pPr indent="0" lvl="0" marL="0" rtl="0" algn="l">
              <a:spcBef>
                <a:spcPts val="0"/>
              </a:spcBef>
              <a:spcAft>
                <a:spcPts val="1200"/>
              </a:spcAft>
              <a:buNone/>
            </a:pPr>
            <a:r>
              <a:t/>
            </a:r>
            <a:endParaRPr b="1"/>
          </a:p>
        </p:txBody>
      </p:sp>
      <p:sp>
        <p:nvSpPr>
          <p:cNvPr id="110" name="Google Shape;11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2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Ashok Kakade</a:t>
            </a:r>
            <a:endParaRPr sz="1000">
              <a:solidFill>
                <a:srgbClr val="000000"/>
              </a:solidFill>
            </a:endParaRPr>
          </a:p>
          <a:p>
            <a:pPr indent="0" lvl="0" marL="0" rtl="0" algn="l">
              <a:spcBef>
                <a:spcPts val="0"/>
              </a:spcBef>
              <a:spcAft>
                <a:spcPts val="0"/>
              </a:spcAft>
              <a:buNone/>
            </a:pPr>
            <a:r>
              <a:rPr b="1" lang="en" sz="1000">
                <a:solidFill>
                  <a:srgbClr val="000000"/>
                </a:solidFill>
              </a:rPr>
              <a:t>6. Why is k-fold cross-validation more expensive but more reliable. What exactly does it protect against that a single train/test split doesn't?</a:t>
            </a:r>
            <a:endParaRPr b="1" sz="1000">
              <a:solidFill>
                <a:srgbClr val="000000"/>
              </a:solidFill>
            </a:endParaRPr>
          </a:p>
          <a:p>
            <a:pPr indent="0" lvl="0" marL="0" rtl="0" algn="l">
              <a:spcBef>
                <a:spcPts val="0"/>
              </a:spcBef>
              <a:spcAft>
                <a:spcPts val="0"/>
              </a:spcAft>
              <a:buNone/>
            </a:pPr>
            <a:r>
              <a:rPr lang="en"/>
              <a:t> </a:t>
            </a:r>
            <a:endParaRPr/>
          </a:p>
          <a:p>
            <a:pPr indent="-317500" lvl="0" marL="457200" rtl="0" algn="l">
              <a:lnSpc>
                <a:spcPct val="100000"/>
              </a:lnSpc>
              <a:spcBef>
                <a:spcPts val="1200"/>
              </a:spcBef>
              <a:spcAft>
                <a:spcPts val="0"/>
              </a:spcAft>
              <a:buClr>
                <a:srgbClr val="000000"/>
              </a:buClr>
              <a:buSzPts val="1400"/>
              <a:buChar char="●"/>
            </a:pPr>
            <a:r>
              <a:rPr lang="en"/>
              <a:t>Train-validation-test</a:t>
            </a:r>
            <a:endParaRPr/>
          </a:p>
          <a:p>
            <a:pPr indent="-317500" lvl="0" marL="457200" rtl="0" algn="l">
              <a:lnSpc>
                <a:spcPct val="100000"/>
              </a:lnSpc>
              <a:spcBef>
                <a:spcPts val="0"/>
              </a:spcBef>
              <a:spcAft>
                <a:spcPts val="0"/>
              </a:spcAft>
              <a:buClr>
                <a:srgbClr val="000000"/>
              </a:buClr>
              <a:buSzPts val="1400"/>
              <a:buChar char="●"/>
            </a:pPr>
            <a:r>
              <a:rPr lang="en"/>
              <a:t>Trains the model K times</a:t>
            </a:r>
            <a:endParaRPr/>
          </a:p>
          <a:p>
            <a:pPr indent="-317500" lvl="0" marL="457200" rtl="0" algn="l">
              <a:lnSpc>
                <a:spcPct val="100000"/>
              </a:lnSpc>
              <a:spcBef>
                <a:spcPts val="0"/>
              </a:spcBef>
              <a:spcAft>
                <a:spcPts val="0"/>
              </a:spcAft>
              <a:buClr>
                <a:srgbClr val="000000"/>
              </a:buClr>
              <a:buSzPts val="1400"/>
              <a:buChar char="●"/>
            </a:pPr>
            <a:r>
              <a:rPr lang="en"/>
              <a:t>Fortunate/Unfortunate split</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2</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000">
                <a:solidFill>
                  <a:schemeClr val="dk1"/>
                </a:solidFill>
              </a:rPr>
              <a:t>Supervised learning: linear and logistic regression  </a:t>
            </a:r>
            <a:endParaRPr/>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311700" y="3248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Aruna dubey</a:t>
            </a:r>
            <a:endParaRPr sz="1000">
              <a:solidFill>
                <a:srgbClr val="000000"/>
              </a:solidFill>
            </a:endParaRPr>
          </a:p>
          <a:p>
            <a:pPr indent="0" lvl="0" marL="0" rtl="0" algn="l">
              <a:spcBef>
                <a:spcPts val="0"/>
              </a:spcBef>
              <a:spcAft>
                <a:spcPts val="0"/>
              </a:spcAft>
              <a:buNone/>
            </a:pPr>
            <a:r>
              <a:rPr b="1" lang="en" sz="1000">
                <a:solidFill>
                  <a:srgbClr val="000000"/>
                </a:solidFill>
              </a:rPr>
              <a:t>1. </a:t>
            </a:r>
            <a:r>
              <a:rPr b="1" lang="en" sz="1000">
                <a:solidFill>
                  <a:srgbClr val="000000"/>
                </a:solidFill>
              </a:rPr>
              <a:t>Please explain supervised learning why need linear and logistic regression also explain linear and logistic regression in real world</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Akshay Ranga H</a:t>
            </a:r>
            <a:endParaRPr sz="1000">
              <a:solidFill>
                <a:srgbClr val="000000"/>
              </a:solidFill>
            </a:endParaRPr>
          </a:p>
          <a:p>
            <a:pPr indent="0" lvl="0" marL="0" rtl="0" algn="l">
              <a:spcBef>
                <a:spcPts val="0"/>
              </a:spcBef>
              <a:spcAft>
                <a:spcPts val="0"/>
              </a:spcAft>
              <a:buNone/>
            </a:pPr>
            <a:r>
              <a:rPr b="1" lang="en" sz="1000">
                <a:solidFill>
                  <a:srgbClr val="000000"/>
                </a:solidFill>
              </a:rPr>
              <a:t>2. Is there any ideal process in training a model using linear and logistic regression? I fail to make an intution of When to use what. Is there a good way to correlate the concept to a problem statement</a:t>
            </a:r>
            <a:endParaRPr b="1" sz="10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idx="1" type="body"/>
          </p:nvPr>
        </p:nvSpPr>
        <p:spPr>
          <a:xfrm>
            <a:off x="311700" y="376475"/>
            <a:ext cx="8520600" cy="41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50">
                <a:solidFill>
                  <a:srgbClr val="000000"/>
                </a:solidFill>
              </a:rPr>
              <a:t>Madhumitha </a:t>
            </a:r>
            <a:r>
              <a:rPr lang="en" sz="1250">
                <a:solidFill>
                  <a:srgbClr val="000000"/>
                </a:solidFill>
              </a:rPr>
              <a:t>Prabakar</a:t>
            </a:r>
            <a:endParaRPr sz="1250">
              <a:solidFill>
                <a:srgbClr val="000000"/>
              </a:solidFill>
            </a:endParaRPr>
          </a:p>
          <a:p>
            <a:pPr indent="0" lvl="0" marL="0" rtl="0" algn="l">
              <a:spcBef>
                <a:spcPts val="0"/>
              </a:spcBef>
              <a:spcAft>
                <a:spcPts val="0"/>
              </a:spcAft>
              <a:buNone/>
            </a:pPr>
            <a:r>
              <a:rPr b="1" lang="en" sz="1250">
                <a:solidFill>
                  <a:srgbClr val="000000"/>
                </a:solidFill>
              </a:rPr>
              <a:t>3. How to </a:t>
            </a:r>
            <a:r>
              <a:rPr b="1" lang="en" sz="1250">
                <a:solidFill>
                  <a:srgbClr val="000000"/>
                </a:solidFill>
              </a:rPr>
              <a:t>choose</a:t>
            </a:r>
            <a:r>
              <a:rPr b="1" lang="en" sz="1250">
                <a:solidFill>
                  <a:srgbClr val="000000"/>
                </a:solidFill>
              </a:rPr>
              <a:t> a model? Should we try with different models and chose the one with better accuracy?</a:t>
            </a:r>
            <a:endParaRPr b="1" sz="1250">
              <a:solidFill>
                <a:srgbClr val="000000"/>
              </a:solidFill>
            </a:endParaRPr>
          </a:p>
          <a:p>
            <a:pPr indent="0" lvl="0" marL="0" rtl="0" algn="l">
              <a:spcBef>
                <a:spcPts val="0"/>
              </a:spcBef>
              <a:spcAft>
                <a:spcPts val="0"/>
              </a:spcAft>
              <a:buNone/>
            </a:pPr>
            <a:r>
              <a:t/>
            </a:r>
            <a:endParaRPr b="1" sz="1250">
              <a:solidFill>
                <a:srgbClr val="000000"/>
              </a:solidFill>
            </a:endParaRPr>
          </a:p>
          <a:p>
            <a:pPr indent="-342900" lvl="0" marL="457200" rtl="0" algn="l">
              <a:spcBef>
                <a:spcPts val="0"/>
              </a:spcBef>
              <a:spcAft>
                <a:spcPts val="0"/>
              </a:spcAft>
              <a:buClr>
                <a:schemeClr val="dk1"/>
              </a:buClr>
              <a:buSzPts val="1800"/>
              <a:buChar char="●"/>
            </a:pPr>
            <a:r>
              <a:rPr lang="en">
                <a:solidFill>
                  <a:schemeClr val="dk1"/>
                </a:solidFill>
              </a:rPr>
              <a:t>Evaluation Metric</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Interpretability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Training time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Inference latency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Memory usage</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idx="1" type="body"/>
          </p:nvPr>
        </p:nvSpPr>
        <p:spPr>
          <a:xfrm>
            <a:off x="311700" y="386325"/>
            <a:ext cx="8520600" cy="418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Ashok Kakade</a:t>
            </a:r>
            <a:endParaRPr sz="1000">
              <a:solidFill>
                <a:srgbClr val="000000"/>
              </a:solidFill>
            </a:endParaRPr>
          </a:p>
          <a:p>
            <a:pPr indent="0" lvl="0" marL="0" rtl="0" algn="l">
              <a:spcBef>
                <a:spcPts val="0"/>
              </a:spcBef>
              <a:spcAft>
                <a:spcPts val="0"/>
              </a:spcAft>
              <a:buNone/>
            </a:pPr>
            <a:r>
              <a:rPr b="1" lang="en" sz="1000">
                <a:solidFill>
                  <a:srgbClr val="000000"/>
                </a:solidFill>
              </a:rPr>
              <a:t>4. Linear Regression uses Mean Squared Error as its loss function, but Logistic Regression Log Loss, entropy. why MSE we can't use with both?</a:t>
            </a:r>
            <a:endParaRPr b="1" sz="1000">
              <a:solidFill>
                <a:srgbClr val="000000"/>
              </a:solidFill>
            </a:endParaRPr>
          </a:p>
          <a:p>
            <a:pPr indent="0" lvl="0" marL="0" rtl="0" algn="l">
              <a:spcBef>
                <a:spcPts val="0"/>
              </a:spcBef>
              <a:spcAft>
                <a:spcPts val="1200"/>
              </a:spcAft>
              <a:buNone/>
            </a:pPr>
            <a:r>
              <a:t/>
            </a:r>
            <a:endParaRPr/>
          </a:p>
        </p:txBody>
      </p:sp>
      <p:pic>
        <p:nvPicPr>
          <p:cNvPr id="145" name="Google Shape;145;p28"/>
          <p:cNvPicPr preferRelativeResize="0"/>
          <p:nvPr/>
        </p:nvPicPr>
        <p:blipFill rotWithShape="1">
          <a:blip r:embed="rId3">
            <a:alphaModFix/>
          </a:blip>
          <a:srcRect b="5963" l="2436" r="1669" t="3686"/>
          <a:stretch/>
        </p:blipFill>
        <p:spPr>
          <a:xfrm>
            <a:off x="877901" y="1283600"/>
            <a:ext cx="7340827" cy="3448101"/>
          </a:xfrm>
          <a:prstGeom prst="rect">
            <a:avLst/>
          </a:prstGeom>
          <a:noFill/>
          <a:ln>
            <a:noFill/>
          </a:ln>
        </p:spPr>
      </p:pic>
      <p:sp>
        <p:nvSpPr>
          <p:cNvPr id="146" name="Google Shape;14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3</a:t>
            </a:r>
            <a:endParaRPr/>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000">
                <a:solidFill>
                  <a:schemeClr val="dk1"/>
                </a:solidFill>
              </a:rPr>
              <a:t>Supervised Learning: Decision trees and support vector machines</a:t>
            </a:r>
            <a:endParaRPr/>
          </a:p>
        </p:txBody>
      </p:sp>
      <p:sp>
        <p:nvSpPr>
          <p:cNvPr id="153" name="Google Shape;15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Aruna dubey</a:t>
            </a:r>
            <a:endParaRPr sz="1000">
              <a:solidFill>
                <a:srgbClr val="000000"/>
              </a:solidFill>
            </a:endParaRPr>
          </a:p>
          <a:p>
            <a:pPr indent="0" lvl="0" marL="0" rtl="0" algn="l">
              <a:spcBef>
                <a:spcPts val="0"/>
              </a:spcBef>
              <a:spcAft>
                <a:spcPts val="0"/>
              </a:spcAft>
              <a:buNone/>
            </a:pPr>
            <a:r>
              <a:rPr b="1" lang="en" sz="1000">
                <a:solidFill>
                  <a:srgbClr val="000000"/>
                </a:solidFill>
              </a:rPr>
              <a:t>1. </a:t>
            </a:r>
            <a:r>
              <a:rPr b="1" lang="en" sz="1000">
                <a:solidFill>
                  <a:srgbClr val="000000"/>
                </a:solidFill>
              </a:rPr>
              <a:t>What is decision trees explain I details and support vector machine with few example</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Ashok Kakade</a:t>
            </a:r>
            <a:endParaRPr sz="1000">
              <a:solidFill>
                <a:srgbClr val="000000"/>
              </a:solidFill>
            </a:endParaRPr>
          </a:p>
          <a:p>
            <a:pPr indent="0" lvl="0" marL="0" rtl="0" algn="l">
              <a:spcBef>
                <a:spcPts val="0"/>
              </a:spcBef>
              <a:spcAft>
                <a:spcPts val="0"/>
              </a:spcAft>
              <a:buNone/>
            </a:pPr>
            <a:r>
              <a:rPr b="1" lang="en" sz="1000">
                <a:solidFill>
                  <a:srgbClr val="000000"/>
                </a:solidFill>
              </a:rPr>
              <a:t>2. A Decision Tree and an SVM are both trained on the same 2D classification dataset with two overlapping classes After training, the Decision Tree gets almost 100% training accuracy but the SVM (with a soft margin) gets only nearby 92% training accuracy, yet the SVM generalizes better on the test set. What is the Decision Tree doing differently that lets it hit 100%, and why does the SVM deliberately accept some misclassified training points instead of also trying to fit them perfectly?</a:t>
            </a:r>
            <a:endParaRPr b="1" sz="1000">
              <a:solidFill>
                <a:srgbClr val="000000"/>
              </a:solidFill>
            </a:endParaRPr>
          </a:p>
          <a:p>
            <a:pPr indent="0" lvl="0" marL="0" rtl="0" algn="l">
              <a:spcBef>
                <a:spcPts val="0"/>
              </a:spcBef>
              <a:spcAft>
                <a:spcPts val="1200"/>
              </a:spcAft>
              <a:buNone/>
            </a:pPr>
            <a:r>
              <a:t/>
            </a:r>
            <a:endParaRPr b="1"/>
          </a:p>
        </p:txBody>
      </p:sp>
      <p:sp>
        <p:nvSpPr>
          <p:cNvPr id="159" name="Google Shape;15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id="164" name="Google Shape;164;p31"/>
          <p:cNvPicPr preferRelativeResize="0"/>
          <p:nvPr>
            <p:ph idx="1" type="body"/>
          </p:nvPr>
        </p:nvPicPr>
        <p:blipFill rotWithShape="1">
          <a:blip r:embed="rId3">
            <a:alphaModFix/>
          </a:blip>
          <a:srcRect b="0" l="0" r="0" t="0"/>
          <a:stretch/>
        </p:blipFill>
        <p:spPr>
          <a:xfrm>
            <a:off x="429075" y="940525"/>
            <a:ext cx="3086100" cy="1783200"/>
          </a:xfrm>
          <a:prstGeom prst="rect">
            <a:avLst/>
          </a:prstGeom>
          <a:noFill/>
          <a:ln>
            <a:noFill/>
          </a:ln>
        </p:spPr>
      </p:pic>
      <p:sp>
        <p:nvSpPr>
          <p:cNvPr id="165" name="Google Shape;165;p31"/>
          <p:cNvSpPr txBox="1"/>
          <p:nvPr>
            <p:ph type="title"/>
          </p:nvPr>
        </p:nvSpPr>
        <p:spPr>
          <a:xfrm>
            <a:off x="184546" y="164306"/>
            <a:ext cx="7886700" cy="550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027159"/>
              </a:buClr>
              <a:buSzPts val="3300"/>
              <a:buFont typeface="Century Schoolbook"/>
              <a:buNone/>
            </a:pPr>
            <a:r>
              <a:rPr lang="en" sz="3300">
                <a:solidFill>
                  <a:srgbClr val="027159"/>
                </a:solidFill>
                <a:latin typeface="Century Schoolbook"/>
                <a:ea typeface="Century Schoolbook"/>
                <a:cs typeface="Century Schoolbook"/>
                <a:sym typeface="Century Schoolbook"/>
              </a:rPr>
              <a:t>Decision Trees</a:t>
            </a:r>
            <a:endParaRPr/>
          </a:p>
        </p:txBody>
      </p:sp>
      <p:pic>
        <p:nvPicPr>
          <p:cNvPr id="166" name="Google Shape;166;p31"/>
          <p:cNvPicPr preferRelativeResize="0"/>
          <p:nvPr>
            <p:ph idx="1" type="body"/>
          </p:nvPr>
        </p:nvPicPr>
        <p:blipFill rotWithShape="1">
          <a:blip r:embed="rId4">
            <a:alphaModFix/>
          </a:blip>
          <a:srcRect b="0" l="0" r="0" t="0"/>
          <a:stretch/>
        </p:blipFill>
        <p:spPr>
          <a:xfrm>
            <a:off x="429076" y="2949751"/>
            <a:ext cx="2093100" cy="1783200"/>
          </a:xfrm>
          <a:prstGeom prst="rect">
            <a:avLst/>
          </a:prstGeom>
          <a:noFill/>
          <a:ln>
            <a:noFill/>
          </a:ln>
        </p:spPr>
      </p:pic>
      <p:sp>
        <p:nvSpPr>
          <p:cNvPr id="167" name="Google Shape;167;p31"/>
          <p:cNvSpPr txBox="1"/>
          <p:nvPr/>
        </p:nvSpPr>
        <p:spPr>
          <a:xfrm>
            <a:off x="3844975" y="1021550"/>
            <a:ext cx="5008200" cy="1702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eriod"/>
            </a:pPr>
            <a:r>
              <a:rPr b="1" lang="en" sz="1100">
                <a:solidFill>
                  <a:schemeClr val="dk1"/>
                </a:solidFill>
              </a:rPr>
              <a:t>Start</a:t>
            </a:r>
            <a:r>
              <a:rPr lang="en" sz="1100">
                <a:solidFill>
                  <a:schemeClr val="dk1"/>
                </a:solidFill>
              </a:rPr>
              <a:t> with the entire training dataset as the root node.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Evaluate all possible splits</a:t>
            </a:r>
            <a:r>
              <a:rPr lang="en" sz="1100">
                <a:solidFill>
                  <a:schemeClr val="dk1"/>
                </a:solidFill>
              </a:rPr>
              <a:t> for every feature.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Compute the weighted Gini impurity</a:t>
            </a:r>
            <a:r>
              <a:rPr lang="en" sz="1100">
                <a:solidFill>
                  <a:schemeClr val="dk1"/>
                </a:solidFill>
              </a:rPr>
              <a:t> for each split.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Select the split</a:t>
            </a:r>
            <a:r>
              <a:rPr lang="en" sz="1100">
                <a:solidFill>
                  <a:schemeClr val="dk1"/>
                </a:solidFill>
              </a:rPr>
              <a:t> with the </a:t>
            </a:r>
            <a:r>
              <a:rPr b="1" lang="en" sz="1100">
                <a:solidFill>
                  <a:schemeClr val="dk1"/>
                </a:solidFill>
              </a:rPr>
              <a:t>lowest weighted Gini impurity</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Split the data</a:t>
            </a:r>
            <a:r>
              <a:rPr lang="en" sz="1100">
                <a:solidFill>
                  <a:schemeClr val="dk1"/>
                </a:solidFill>
              </a:rPr>
              <a:t> into left and right child nodes.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Repeat recursively</a:t>
            </a:r>
            <a:r>
              <a:rPr lang="en" sz="1100">
                <a:solidFill>
                  <a:schemeClr val="dk1"/>
                </a:solidFill>
              </a:rPr>
              <a:t> for each child node.</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Stop</a:t>
            </a:r>
            <a:r>
              <a:rPr lang="en" sz="1100">
                <a:solidFill>
                  <a:schemeClr val="dk1"/>
                </a:solidFill>
              </a:rPr>
              <a:t> when a stopping criterion is met (pure node, max depth, minimum samples, etc.).</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Assign the majority class</a:t>
            </a:r>
            <a:r>
              <a:rPr lang="en" sz="1100">
                <a:solidFill>
                  <a:schemeClr val="dk1"/>
                </a:solidFill>
              </a:rPr>
              <a:t> to each leaf node.</a:t>
            </a:r>
            <a:endParaRPr sz="1100">
              <a:solidFill>
                <a:schemeClr val="dk1"/>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2"/>
          <p:cNvSpPr txBox="1"/>
          <p:nvPr>
            <p:ph type="title"/>
          </p:nvPr>
        </p:nvSpPr>
        <p:spPr>
          <a:xfrm>
            <a:off x="184546" y="164306"/>
            <a:ext cx="7886700" cy="550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027159"/>
              </a:buClr>
              <a:buSzPts val="3300"/>
              <a:buFont typeface="Century Schoolbook"/>
              <a:buNone/>
            </a:pPr>
            <a:r>
              <a:rPr b="0" i="0" lang="en" sz="3300" u="none">
                <a:solidFill>
                  <a:srgbClr val="027159"/>
                </a:solidFill>
                <a:latin typeface="Century Schoolbook"/>
                <a:ea typeface="Century Schoolbook"/>
                <a:cs typeface="Century Schoolbook"/>
                <a:sym typeface="Century Schoolbook"/>
              </a:rPr>
              <a:t>Support Vectors Machines</a:t>
            </a:r>
            <a:endParaRPr/>
          </a:p>
        </p:txBody>
      </p:sp>
      <p:pic>
        <p:nvPicPr>
          <p:cNvPr descr="https://miro.medium.com/v2/resize:fit:720/1*V72cq5MNk-hL194KhKxuaQ.jpeg" id="173" name="Google Shape;173;p32"/>
          <p:cNvPicPr preferRelativeResize="0"/>
          <p:nvPr/>
        </p:nvPicPr>
        <p:blipFill rotWithShape="1">
          <a:blip r:embed="rId3">
            <a:alphaModFix/>
          </a:blip>
          <a:srcRect b="0" l="0" r="0" t="0"/>
          <a:stretch/>
        </p:blipFill>
        <p:spPr>
          <a:xfrm>
            <a:off x="6120994" y="779044"/>
            <a:ext cx="2684176" cy="2180475"/>
          </a:xfrm>
          <a:prstGeom prst="rect">
            <a:avLst/>
          </a:prstGeom>
          <a:noFill/>
          <a:ln>
            <a:noFill/>
          </a:ln>
        </p:spPr>
      </p:pic>
      <p:pic>
        <p:nvPicPr>
          <p:cNvPr id="174" name="Google Shape;174;p32"/>
          <p:cNvPicPr preferRelativeResize="0"/>
          <p:nvPr/>
        </p:nvPicPr>
        <p:blipFill rotWithShape="1">
          <a:blip r:embed="rId4">
            <a:alphaModFix/>
          </a:blip>
          <a:srcRect b="0" l="0" r="0" t="0"/>
          <a:stretch/>
        </p:blipFill>
        <p:spPr>
          <a:xfrm>
            <a:off x="260747" y="892969"/>
            <a:ext cx="4931568" cy="742950"/>
          </a:xfrm>
          <a:prstGeom prst="rect">
            <a:avLst/>
          </a:prstGeom>
          <a:noFill/>
          <a:ln>
            <a:noFill/>
          </a:ln>
        </p:spPr>
      </p:pic>
      <p:pic>
        <p:nvPicPr>
          <p:cNvPr id="175" name="Google Shape;175;p32"/>
          <p:cNvPicPr preferRelativeResize="0"/>
          <p:nvPr/>
        </p:nvPicPr>
        <p:blipFill rotWithShape="1">
          <a:blip r:embed="rId5">
            <a:alphaModFix/>
          </a:blip>
          <a:srcRect b="0" l="0" r="0" t="0"/>
          <a:stretch/>
        </p:blipFill>
        <p:spPr>
          <a:xfrm>
            <a:off x="63103" y="1770459"/>
            <a:ext cx="6057901" cy="883444"/>
          </a:xfrm>
          <a:prstGeom prst="rect">
            <a:avLst/>
          </a:prstGeom>
          <a:noFill/>
          <a:ln>
            <a:noFill/>
          </a:ln>
        </p:spPr>
      </p:pic>
      <p:pic>
        <p:nvPicPr>
          <p:cNvPr id="176" name="Google Shape;176;p32"/>
          <p:cNvPicPr preferRelativeResize="0"/>
          <p:nvPr/>
        </p:nvPicPr>
        <p:blipFill rotWithShape="1">
          <a:blip r:embed="rId6">
            <a:alphaModFix/>
          </a:blip>
          <a:srcRect b="0" l="0" r="0" t="0"/>
          <a:stretch/>
        </p:blipFill>
        <p:spPr>
          <a:xfrm>
            <a:off x="260747" y="3024188"/>
            <a:ext cx="7380684" cy="1516856"/>
          </a:xfrm>
          <a:prstGeom prst="rect">
            <a:avLst/>
          </a:prstGeom>
          <a:noFill/>
          <a:ln>
            <a:noFill/>
          </a:ln>
        </p:spPr>
      </p:pic>
      <p:pic>
        <p:nvPicPr>
          <p:cNvPr id="177" name="Google Shape;177;p32"/>
          <p:cNvPicPr preferRelativeResize="0"/>
          <p:nvPr/>
        </p:nvPicPr>
        <p:blipFill rotWithShape="1">
          <a:blip r:embed="rId7">
            <a:alphaModFix/>
          </a:blip>
          <a:srcRect b="0" l="0" r="0" t="0"/>
          <a:stretch/>
        </p:blipFill>
        <p:spPr>
          <a:xfrm>
            <a:off x="5704284" y="3454003"/>
            <a:ext cx="3251597" cy="716756"/>
          </a:xfrm>
          <a:prstGeom prst="rect">
            <a:avLst/>
          </a:prstGeom>
          <a:noFill/>
          <a:ln>
            <a:noFill/>
          </a:ln>
        </p:spPr>
      </p:pic>
      <p:pic>
        <p:nvPicPr>
          <p:cNvPr id="178" name="Google Shape;178;p32"/>
          <p:cNvPicPr preferRelativeResize="0"/>
          <p:nvPr/>
        </p:nvPicPr>
        <p:blipFill rotWithShape="1">
          <a:blip r:embed="rId8">
            <a:alphaModFix/>
          </a:blip>
          <a:srcRect b="0" l="0" r="0" t="0"/>
          <a:stretch/>
        </p:blipFill>
        <p:spPr>
          <a:xfrm>
            <a:off x="5815012" y="4368403"/>
            <a:ext cx="1554956" cy="531019"/>
          </a:xfrm>
          <a:prstGeom prst="rect">
            <a:avLst/>
          </a:prstGeom>
          <a:noFill/>
          <a:ln>
            <a:noFill/>
          </a:ln>
        </p:spPr>
      </p:pic>
      <p:pic>
        <p:nvPicPr>
          <p:cNvPr id="179" name="Google Shape;179;p32"/>
          <p:cNvPicPr preferRelativeResize="0"/>
          <p:nvPr/>
        </p:nvPicPr>
        <p:blipFill rotWithShape="1">
          <a:blip r:embed="rId9">
            <a:alphaModFix/>
          </a:blip>
          <a:srcRect b="0" l="0" r="0" t="0"/>
          <a:stretch/>
        </p:blipFill>
        <p:spPr>
          <a:xfrm>
            <a:off x="2064544" y="4543425"/>
            <a:ext cx="3579019" cy="600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p33"/>
          <p:cNvSpPr txBox="1"/>
          <p:nvPr>
            <p:ph type="title"/>
          </p:nvPr>
        </p:nvSpPr>
        <p:spPr>
          <a:xfrm>
            <a:off x="628650" y="273844"/>
            <a:ext cx="7886700" cy="5487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FF0000"/>
              </a:buClr>
              <a:buSzPts val="3300"/>
              <a:buFont typeface="Century Schoolbook"/>
              <a:buNone/>
            </a:pPr>
            <a:r>
              <a:rPr b="0" i="0" lang="en" sz="3300" u="none">
                <a:solidFill>
                  <a:srgbClr val="FF0000"/>
                </a:solidFill>
                <a:latin typeface="Century Schoolbook"/>
                <a:ea typeface="Century Schoolbook"/>
                <a:cs typeface="Century Schoolbook"/>
                <a:sym typeface="Century Schoolbook"/>
              </a:rPr>
              <a:t>Hard-Margin vs Soft-Margin SVM</a:t>
            </a:r>
            <a:endParaRPr/>
          </a:p>
        </p:txBody>
      </p:sp>
      <p:sp>
        <p:nvSpPr>
          <p:cNvPr id="185" name="Google Shape;185;p33"/>
          <p:cNvSpPr txBox="1"/>
          <p:nvPr>
            <p:ph idx="1" type="body"/>
          </p:nvPr>
        </p:nvSpPr>
        <p:spPr>
          <a:xfrm>
            <a:off x="628650" y="1103709"/>
            <a:ext cx="7886700" cy="35289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70C0"/>
              </a:buClr>
              <a:buSzPts val="1500"/>
              <a:buFont typeface="Arial"/>
              <a:buChar char="•"/>
            </a:pPr>
            <a:r>
              <a:rPr b="1" i="0" lang="en" sz="1500" u="none" cap="none" strike="noStrike">
                <a:solidFill>
                  <a:srgbClr val="0070C0"/>
                </a:solidFill>
                <a:latin typeface="Century Schoolbook"/>
                <a:ea typeface="Century Schoolbook"/>
                <a:cs typeface="Century Schoolbook"/>
                <a:sym typeface="Century Schoolbook"/>
              </a:rPr>
              <a:t>Hard-Margin SVM</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Assumes perfect linear separability</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No misclassification allowed</a:t>
            </a:r>
            <a:endParaRPr/>
          </a:p>
          <a:p>
            <a:pPr indent="-76200" lvl="1" marL="520700" marR="0" rtl="0" algn="l">
              <a:lnSpc>
                <a:spcPct val="90000"/>
              </a:lnSpc>
              <a:spcBef>
                <a:spcPts val="400"/>
              </a:spcBef>
              <a:spcAft>
                <a:spcPts val="0"/>
              </a:spcAft>
              <a:buClr>
                <a:schemeClr val="dk1"/>
              </a:buClr>
              <a:buSzPts val="1500"/>
              <a:buFont typeface="Arial"/>
              <a:buNone/>
            </a:pPr>
            <a:r>
              <a:t/>
            </a:r>
            <a:endParaRPr b="0" i="0" sz="1500" u="none" cap="none" strike="noStrike">
              <a:solidFill>
                <a:schemeClr val="dk1"/>
              </a:solidFill>
              <a:latin typeface="Century Schoolbook"/>
              <a:ea typeface="Century Schoolbook"/>
              <a:cs typeface="Century Schoolbook"/>
              <a:sym typeface="Century Schoolbook"/>
            </a:endParaRPr>
          </a:p>
          <a:p>
            <a:pPr indent="-76200" lvl="1" marL="520700" marR="0" rtl="0" algn="l">
              <a:lnSpc>
                <a:spcPct val="90000"/>
              </a:lnSpc>
              <a:spcBef>
                <a:spcPts val="400"/>
              </a:spcBef>
              <a:spcAft>
                <a:spcPts val="0"/>
              </a:spcAft>
              <a:buClr>
                <a:schemeClr val="dk1"/>
              </a:buClr>
              <a:buSzPts val="1500"/>
              <a:buFont typeface="Arial"/>
              <a:buNone/>
            </a:pPr>
            <a:r>
              <a:t/>
            </a:r>
            <a:endParaRPr b="0" i="0" sz="1500" u="none" cap="none" strike="noStrike">
              <a:solidFill>
                <a:schemeClr val="dk1"/>
              </a:solidFill>
              <a:latin typeface="Century Schoolbook"/>
              <a:ea typeface="Century Schoolbook"/>
              <a:cs typeface="Century Schoolbook"/>
              <a:sym typeface="Century Schoolbook"/>
            </a:endParaRPr>
          </a:p>
          <a:p>
            <a:pPr indent="-76200" lvl="1" marL="520700" marR="0" rtl="0" algn="l">
              <a:lnSpc>
                <a:spcPct val="90000"/>
              </a:lnSpc>
              <a:spcBef>
                <a:spcPts val="400"/>
              </a:spcBef>
              <a:spcAft>
                <a:spcPts val="0"/>
              </a:spcAft>
              <a:buClr>
                <a:schemeClr val="dk1"/>
              </a:buClr>
              <a:buSzPts val="1500"/>
              <a:buFont typeface="Arial"/>
              <a:buNone/>
            </a:pPr>
            <a:r>
              <a:t/>
            </a:r>
            <a:endParaRPr b="0" i="0" sz="1500" u="none" cap="none" strike="noStrike">
              <a:solidFill>
                <a:schemeClr val="dk1"/>
              </a:solidFill>
              <a:latin typeface="Century Schoolbook"/>
              <a:ea typeface="Century Schoolbook"/>
              <a:cs typeface="Century Schoolbook"/>
              <a:sym typeface="Century Schoolbook"/>
            </a:endParaRPr>
          </a:p>
          <a:p>
            <a:pPr indent="-171450" lvl="0" marL="177800" marR="0" rtl="0" algn="l">
              <a:lnSpc>
                <a:spcPct val="90000"/>
              </a:lnSpc>
              <a:spcBef>
                <a:spcPts val="800"/>
              </a:spcBef>
              <a:spcAft>
                <a:spcPts val="0"/>
              </a:spcAft>
              <a:buClr>
                <a:srgbClr val="0070C0"/>
              </a:buClr>
              <a:buSzPts val="1500"/>
              <a:buFont typeface="Arial"/>
              <a:buChar char="•"/>
            </a:pPr>
            <a:r>
              <a:rPr b="1" i="0" lang="en" sz="1500" u="none" cap="none" strike="noStrike">
                <a:solidFill>
                  <a:srgbClr val="0070C0"/>
                </a:solidFill>
                <a:latin typeface="Century Schoolbook"/>
                <a:ea typeface="Century Schoolbook"/>
                <a:cs typeface="Century Schoolbook"/>
                <a:sym typeface="Century Schoolbook"/>
              </a:rPr>
              <a:t>Soft-Margin SVM</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Introduce slack variables ξi​≥0  </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Optimization problem:  </a:t>
            </a:r>
            <a:endParaRPr/>
          </a:p>
          <a:p>
            <a:pPr indent="-76200" lvl="1" marL="520700" marR="0" rtl="0" algn="l">
              <a:lnSpc>
                <a:spcPct val="90000"/>
              </a:lnSpc>
              <a:spcBef>
                <a:spcPts val="400"/>
              </a:spcBef>
              <a:spcAft>
                <a:spcPts val="0"/>
              </a:spcAft>
              <a:buClr>
                <a:schemeClr val="dk1"/>
              </a:buClr>
              <a:buSzPts val="1500"/>
              <a:buFont typeface="Arial"/>
              <a:buNone/>
            </a:pPr>
            <a:r>
              <a:t/>
            </a:r>
            <a:endParaRPr b="0" i="0" sz="1500" u="none" cap="none" strike="noStrike">
              <a:solidFill>
                <a:schemeClr val="dk1"/>
              </a:solidFill>
              <a:latin typeface="Century Schoolbook"/>
              <a:ea typeface="Century Schoolbook"/>
              <a:cs typeface="Century Schoolbook"/>
              <a:sym typeface="Century Schoolbook"/>
            </a:endParaRPr>
          </a:p>
          <a:p>
            <a:pPr indent="-76200" lvl="0" marL="177800" marR="0" rtl="0" algn="l">
              <a:lnSpc>
                <a:spcPct val="90000"/>
              </a:lnSpc>
              <a:spcBef>
                <a:spcPts val="800"/>
              </a:spcBef>
              <a:spcAft>
                <a:spcPts val="0"/>
              </a:spcAft>
              <a:buClr>
                <a:schemeClr val="dk1"/>
              </a:buClr>
              <a:buSzPts val="1500"/>
              <a:buFont typeface="Arial"/>
              <a:buNone/>
            </a:pPr>
            <a:r>
              <a:t/>
            </a:r>
            <a:endParaRPr b="0" i="0" sz="1500" u="none" cap="none" strike="noStrike">
              <a:solidFill>
                <a:schemeClr val="dk1"/>
              </a:solidFill>
              <a:latin typeface="Century Schoolbook"/>
              <a:ea typeface="Century Schoolbook"/>
              <a:cs typeface="Century Schoolbook"/>
              <a:sym typeface="Century Schoolbook"/>
            </a:endParaRPr>
          </a:p>
        </p:txBody>
      </p:sp>
      <p:pic>
        <p:nvPicPr>
          <p:cNvPr id="186" name="Google Shape;186;p33"/>
          <p:cNvPicPr preferRelativeResize="0"/>
          <p:nvPr/>
        </p:nvPicPr>
        <p:blipFill rotWithShape="1">
          <a:blip r:embed="rId3">
            <a:alphaModFix/>
          </a:blip>
          <a:srcRect b="0" l="0" r="0" t="0"/>
          <a:stretch/>
        </p:blipFill>
        <p:spPr>
          <a:xfrm>
            <a:off x="4755356" y="1248965"/>
            <a:ext cx="3042047" cy="486965"/>
          </a:xfrm>
          <a:prstGeom prst="rect">
            <a:avLst/>
          </a:prstGeom>
          <a:noFill/>
          <a:ln>
            <a:noFill/>
          </a:ln>
        </p:spPr>
      </p:pic>
      <p:pic>
        <p:nvPicPr>
          <p:cNvPr id="187" name="Google Shape;187;p33"/>
          <p:cNvPicPr preferRelativeResize="0"/>
          <p:nvPr/>
        </p:nvPicPr>
        <p:blipFill rotWithShape="1">
          <a:blip r:embed="rId4">
            <a:alphaModFix/>
          </a:blip>
          <a:srcRect b="0" l="0" r="0" t="0"/>
          <a:stretch/>
        </p:blipFill>
        <p:spPr>
          <a:xfrm>
            <a:off x="992981" y="1905000"/>
            <a:ext cx="2850356" cy="641746"/>
          </a:xfrm>
          <a:prstGeom prst="rect">
            <a:avLst/>
          </a:prstGeom>
          <a:noFill/>
          <a:ln>
            <a:noFill/>
          </a:ln>
        </p:spPr>
      </p:pic>
      <p:pic>
        <p:nvPicPr>
          <p:cNvPr id="188" name="Google Shape;188;p33"/>
          <p:cNvPicPr preferRelativeResize="0"/>
          <p:nvPr/>
        </p:nvPicPr>
        <p:blipFill rotWithShape="1">
          <a:blip r:embed="rId5">
            <a:alphaModFix/>
          </a:blip>
          <a:srcRect b="0" l="0" r="0" t="0"/>
          <a:stretch/>
        </p:blipFill>
        <p:spPr>
          <a:xfrm>
            <a:off x="3958828" y="2863453"/>
            <a:ext cx="1859756" cy="341709"/>
          </a:xfrm>
          <a:prstGeom prst="rect">
            <a:avLst/>
          </a:prstGeom>
          <a:noFill/>
          <a:ln>
            <a:noFill/>
          </a:ln>
        </p:spPr>
      </p:pic>
      <p:pic>
        <p:nvPicPr>
          <p:cNvPr id="189" name="Google Shape;189;p33"/>
          <p:cNvPicPr preferRelativeResize="0"/>
          <p:nvPr/>
        </p:nvPicPr>
        <p:blipFill rotWithShape="1">
          <a:blip r:embed="rId6">
            <a:alphaModFix/>
          </a:blip>
          <a:srcRect b="0" l="0" r="0" t="0"/>
          <a:stretch/>
        </p:blipFill>
        <p:spPr>
          <a:xfrm>
            <a:off x="3226594" y="3205163"/>
            <a:ext cx="2020490" cy="756047"/>
          </a:xfrm>
          <a:prstGeom prst="rect">
            <a:avLst/>
          </a:prstGeom>
          <a:noFill/>
          <a:ln>
            <a:noFill/>
          </a:ln>
        </p:spPr>
      </p:pic>
      <p:pic>
        <p:nvPicPr>
          <p:cNvPr id="190" name="Google Shape;190;p33"/>
          <p:cNvPicPr preferRelativeResize="0"/>
          <p:nvPr/>
        </p:nvPicPr>
        <p:blipFill rotWithShape="1">
          <a:blip r:embed="rId7">
            <a:alphaModFix/>
          </a:blip>
          <a:srcRect b="0" l="0" r="0" t="0"/>
          <a:stretch/>
        </p:blipFill>
        <p:spPr>
          <a:xfrm>
            <a:off x="1125140" y="4125515"/>
            <a:ext cx="2989659" cy="570309"/>
          </a:xfrm>
          <a:prstGeom prst="rect">
            <a:avLst/>
          </a:prstGeom>
          <a:noFill/>
          <a:ln>
            <a:noFill/>
          </a:ln>
        </p:spPr>
      </p:pic>
      <p:pic>
        <p:nvPicPr>
          <p:cNvPr id="191" name="Google Shape;191;p33" title="Screenshot 2026-07-19 at 12.51.56 AM.png"/>
          <p:cNvPicPr preferRelativeResize="0"/>
          <p:nvPr/>
        </p:nvPicPr>
        <p:blipFill rotWithShape="1">
          <a:blip r:embed="rId8">
            <a:alphaModFix/>
          </a:blip>
          <a:srcRect b="30703" l="20255" r="0" t="21768"/>
          <a:stretch/>
        </p:blipFill>
        <p:spPr>
          <a:xfrm>
            <a:off x="5400475" y="3340625"/>
            <a:ext cx="3555350" cy="129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Madhumitha Prabakar</a:t>
            </a:r>
            <a:endParaRPr sz="1000">
              <a:solidFill>
                <a:srgbClr val="000000"/>
              </a:solidFill>
            </a:endParaRPr>
          </a:p>
          <a:p>
            <a:pPr indent="0" lvl="0" marL="0" rtl="0" algn="l">
              <a:spcBef>
                <a:spcPts val="0"/>
              </a:spcBef>
              <a:spcAft>
                <a:spcPts val="0"/>
              </a:spcAft>
              <a:buNone/>
            </a:pPr>
            <a:r>
              <a:rPr b="1" lang="en" sz="1000">
                <a:solidFill>
                  <a:srgbClr val="000000"/>
                </a:solidFill>
              </a:rPr>
              <a:t>3. Decision trees and SVM - are there any practical use cases in industries that you can give as example? Product rating was one. Can you give more? And when do we chose these models over the other ?</a:t>
            </a:r>
            <a:endParaRPr b="1" sz="1000">
              <a:solidFill>
                <a:srgbClr val="000000"/>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Choose a Decision Tree when:</a:t>
            </a:r>
            <a:endParaRPr sz="1000">
              <a:solidFill>
                <a:srgbClr val="000000"/>
              </a:solidFill>
            </a:endParaRPr>
          </a:p>
          <a:p>
            <a:pPr indent="-292100" lvl="0" marL="457200" rtl="0" algn="l">
              <a:spcBef>
                <a:spcPts val="1200"/>
              </a:spcBef>
              <a:spcAft>
                <a:spcPts val="0"/>
              </a:spcAft>
              <a:buClr>
                <a:srgbClr val="000000"/>
              </a:buClr>
              <a:buSzPts val="1000"/>
              <a:buChar char="●"/>
            </a:pPr>
            <a:r>
              <a:rPr lang="en" sz="1000">
                <a:solidFill>
                  <a:srgbClr val="000000"/>
                </a:solidFill>
              </a:rPr>
              <a:t>Explainability is critical.</a:t>
            </a:r>
            <a:endParaRPr sz="1000">
              <a:solidFill>
                <a:srgbClr val="000000"/>
              </a:solidFill>
            </a:endParaRPr>
          </a:p>
          <a:p>
            <a:pPr indent="-292100" lvl="0" marL="457200" rtl="0" algn="l">
              <a:spcBef>
                <a:spcPts val="0"/>
              </a:spcBef>
              <a:spcAft>
                <a:spcPts val="0"/>
              </a:spcAft>
              <a:buClr>
                <a:srgbClr val="000000"/>
              </a:buClr>
              <a:buSzPts val="1000"/>
              <a:buChar char="●"/>
            </a:pPr>
            <a:r>
              <a:rPr lang="en" sz="1000">
                <a:solidFill>
                  <a:srgbClr val="000000"/>
                </a:solidFill>
              </a:rPr>
              <a:t>Business users need clear decision rules.</a:t>
            </a:r>
            <a:endParaRPr sz="1000">
              <a:solidFill>
                <a:srgbClr val="000000"/>
              </a:solidFill>
            </a:endParaRPr>
          </a:p>
          <a:p>
            <a:pPr indent="0" lvl="0" marL="0" rtl="0" algn="l">
              <a:spcBef>
                <a:spcPts val="1200"/>
              </a:spcBef>
              <a:spcAft>
                <a:spcPts val="0"/>
              </a:spcAft>
              <a:buNone/>
            </a:pPr>
            <a:r>
              <a:rPr lang="en" sz="1100">
                <a:solidFill>
                  <a:schemeClr val="dk1"/>
                </a:solidFill>
              </a:rPr>
              <a:t>Choose an SVM when:</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number of features is very large.</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High classification accuracy is more important than interpretability.</a:t>
            </a:r>
            <a:endParaRPr sz="1100">
              <a:solidFill>
                <a:schemeClr val="dk1"/>
              </a:solidFill>
            </a:endParaRPr>
          </a:p>
          <a:p>
            <a:pPr indent="0" lvl="0" marL="0" rtl="0" algn="l">
              <a:spcBef>
                <a:spcPts val="1200"/>
              </a:spcBef>
              <a:spcAft>
                <a:spcPts val="1200"/>
              </a:spcAft>
              <a:buNone/>
            </a:pPr>
            <a:r>
              <a:t/>
            </a:r>
            <a:endParaRPr sz="1000">
              <a:solidFill>
                <a:srgbClr val="000000"/>
              </a:solidFill>
            </a:endParaRPr>
          </a:p>
        </p:txBody>
      </p:sp>
      <p:sp>
        <p:nvSpPr>
          <p:cNvPr id="197" name="Google Shape;19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4</a:t>
            </a:r>
            <a:endParaRPr/>
          </a:p>
        </p:txBody>
      </p:sp>
      <p:sp>
        <p:nvSpPr>
          <p:cNvPr id="203" name="Google Shape;20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000">
                <a:solidFill>
                  <a:schemeClr val="dk1"/>
                </a:solidFill>
              </a:rPr>
              <a:t>Ensemble methods: Bagging and random forests, adaptive boosting and gradient boosting</a:t>
            </a:r>
            <a:endParaRPr/>
          </a:p>
        </p:txBody>
      </p:sp>
      <p:sp>
        <p:nvSpPr>
          <p:cNvPr id="204" name="Google Shape;20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G M Waseem</a:t>
            </a:r>
            <a:endParaRPr sz="1000">
              <a:solidFill>
                <a:srgbClr val="000000"/>
              </a:solidFill>
            </a:endParaRPr>
          </a:p>
          <a:p>
            <a:pPr indent="0" lvl="0" marL="0" rtl="0" algn="l">
              <a:spcBef>
                <a:spcPts val="0"/>
              </a:spcBef>
              <a:spcAft>
                <a:spcPts val="0"/>
              </a:spcAft>
              <a:buNone/>
            </a:pPr>
            <a:r>
              <a:rPr b="1" lang="en" sz="1000">
                <a:solidFill>
                  <a:srgbClr val="000000"/>
                </a:solidFill>
              </a:rPr>
              <a:t>1. </a:t>
            </a:r>
            <a:r>
              <a:rPr b="1" lang="en" sz="1000">
                <a:solidFill>
                  <a:srgbClr val="000000"/>
                </a:solidFill>
              </a:rPr>
              <a:t>Need a full session on all the topics again from this session</a:t>
            </a:r>
            <a:endParaRPr b="1" sz="1000">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0"/>
              </a:spcBef>
              <a:spcAft>
                <a:spcPts val="0"/>
              </a:spcAft>
              <a:buNone/>
            </a:pPr>
            <a:r>
              <a:rPr lang="en" sz="1000">
                <a:solidFill>
                  <a:srgbClr val="000000"/>
                </a:solidFill>
              </a:rPr>
              <a:t>Aruna dubey</a:t>
            </a:r>
            <a:endParaRPr sz="1000">
              <a:solidFill>
                <a:srgbClr val="000000"/>
              </a:solidFill>
            </a:endParaRPr>
          </a:p>
          <a:p>
            <a:pPr indent="0" lvl="0" marL="0" rtl="0" algn="l">
              <a:spcBef>
                <a:spcPts val="0"/>
              </a:spcBef>
              <a:spcAft>
                <a:spcPts val="0"/>
              </a:spcAft>
              <a:buNone/>
            </a:pPr>
            <a:r>
              <a:rPr b="1" lang="en" sz="1000">
                <a:solidFill>
                  <a:srgbClr val="000000"/>
                </a:solidFill>
              </a:rPr>
              <a:t>2. What is bagging,boosting, Ada boosting and also explain gradient decent with example</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Ashok Kakade</a:t>
            </a:r>
            <a:endParaRPr sz="1000">
              <a:solidFill>
                <a:srgbClr val="000000"/>
              </a:solidFill>
            </a:endParaRPr>
          </a:p>
          <a:p>
            <a:pPr indent="0" lvl="0" marL="0" rtl="0" algn="l">
              <a:spcBef>
                <a:spcPts val="0"/>
              </a:spcBef>
              <a:spcAft>
                <a:spcPts val="0"/>
              </a:spcAft>
              <a:buNone/>
            </a:pPr>
            <a:r>
              <a:rPr b="1" lang="en" sz="1000">
                <a:solidFill>
                  <a:srgbClr val="000000"/>
                </a:solidFill>
              </a:rPr>
              <a:t>3. Random Forest reduces variance by averaging many trees trained on random subsets of data and features but if all the trees end up highly correlated, that averaging benefit weakens. What specifically does Random Forest do differently from plain Bagging to keep the trees less correlated?</a:t>
            </a:r>
            <a:endParaRPr b="1" sz="1000">
              <a:solidFill>
                <a:srgbClr val="000000"/>
              </a:solidFill>
            </a:endParaRPr>
          </a:p>
          <a:p>
            <a:pPr indent="0" lvl="0" marL="0" rtl="0" algn="l">
              <a:spcBef>
                <a:spcPts val="0"/>
              </a:spcBef>
              <a:spcAft>
                <a:spcPts val="1200"/>
              </a:spcAft>
              <a:buNone/>
            </a:pPr>
            <a:r>
              <a:t/>
            </a:r>
            <a:endParaRPr/>
          </a:p>
        </p:txBody>
      </p:sp>
      <p:sp>
        <p:nvSpPr>
          <p:cNvPr id="210" name="Google Shape;21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37"/>
          <p:cNvSpPr txBox="1"/>
          <p:nvPr>
            <p:ph type="title"/>
          </p:nvPr>
        </p:nvSpPr>
        <p:spPr>
          <a:xfrm>
            <a:off x="628650" y="273844"/>
            <a:ext cx="7886700" cy="5487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FF0000"/>
              </a:buClr>
              <a:buSzPts val="3300"/>
              <a:buFont typeface="Century Schoolbook"/>
              <a:buNone/>
            </a:pPr>
            <a:r>
              <a:rPr b="0" i="0" lang="en" sz="3300" u="none">
                <a:solidFill>
                  <a:srgbClr val="FF0000"/>
                </a:solidFill>
                <a:latin typeface="Century Schoolbook"/>
                <a:ea typeface="Century Schoolbook"/>
                <a:cs typeface="Century Schoolbook"/>
                <a:sym typeface="Century Schoolbook"/>
              </a:rPr>
              <a:t>Why Ensemble Learning?</a:t>
            </a:r>
            <a:endParaRPr/>
          </a:p>
        </p:txBody>
      </p:sp>
      <p:sp>
        <p:nvSpPr>
          <p:cNvPr id="216" name="Google Shape;216;p37"/>
          <p:cNvSpPr txBox="1"/>
          <p:nvPr>
            <p:ph idx="1" type="body"/>
          </p:nvPr>
        </p:nvSpPr>
        <p:spPr>
          <a:xfrm>
            <a:off x="628650" y="1103709"/>
            <a:ext cx="7886700" cy="35289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Instead of relying on a single classifier, combine multiple classifiers to obtain a stronger model.</a:t>
            </a:r>
            <a:endParaRPr/>
          </a:p>
          <a:p>
            <a:pPr indent="-171450" lvl="0" marL="177800" marR="0" rtl="0" algn="l">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Why single models fail?</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High bias → underfitting (e.g., linear models)</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High variance → overfitting (e.g., decision trees) </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Sensitive to noise and sampling variation</a:t>
            </a:r>
            <a:endParaRPr/>
          </a:p>
          <a:p>
            <a:pPr indent="-177800" lvl="1" marL="520700" marR="0" rtl="0" algn="l">
              <a:lnSpc>
                <a:spcPct val="90000"/>
              </a:lnSpc>
              <a:spcBef>
                <a:spcPts val="400"/>
              </a:spcBef>
              <a:spcAft>
                <a:spcPts val="0"/>
              </a:spcAft>
              <a:buClr>
                <a:schemeClr val="dk1"/>
              </a:buClr>
              <a:buSzPts val="1500"/>
              <a:buFont typeface="Arial"/>
              <a:buNone/>
            </a:pPr>
            <a:r>
              <a:rPr b="0" i="0" lang="en" sz="1500" u="none" cap="none" strike="noStrike">
                <a:solidFill>
                  <a:schemeClr val="dk1"/>
                </a:solidFill>
                <a:latin typeface="Century Schoolbook"/>
                <a:ea typeface="Century Schoolbook"/>
                <a:cs typeface="Century Schoolbook"/>
                <a:sym typeface="Century Schoolbook"/>
              </a:rPr>
              <a:t>📌 Ensemble methods aim to reduce error by aggregation.</a:t>
            </a:r>
            <a:endParaRPr/>
          </a:p>
          <a:p>
            <a:pPr indent="-171450" lvl="0" marL="177800" marR="0" rtl="0" algn="l">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What Is an Ensemble?</a:t>
            </a:r>
            <a:endParaRPr/>
          </a:p>
          <a:p>
            <a:pPr indent="-76200" lvl="0" marL="177800" marR="0" rtl="0" algn="l">
              <a:lnSpc>
                <a:spcPct val="90000"/>
              </a:lnSpc>
              <a:spcBef>
                <a:spcPts val="800"/>
              </a:spcBef>
              <a:spcAft>
                <a:spcPts val="0"/>
              </a:spcAft>
              <a:buClr>
                <a:schemeClr val="dk1"/>
              </a:buClr>
              <a:buSzPts val="1500"/>
              <a:buFont typeface="Arial"/>
              <a:buNone/>
            </a:pPr>
            <a:r>
              <a:t/>
            </a:r>
            <a:endParaRPr b="1" i="0" sz="1500" u="none">
              <a:solidFill>
                <a:srgbClr val="0070C0"/>
              </a:solidFill>
              <a:latin typeface="Century Schoolbook"/>
              <a:ea typeface="Century Schoolbook"/>
              <a:cs typeface="Century Schoolbook"/>
              <a:sym typeface="Century Schoolbook"/>
            </a:endParaRPr>
          </a:p>
        </p:txBody>
      </p:sp>
      <p:pic>
        <p:nvPicPr>
          <p:cNvPr id="217" name="Google Shape;217;p37"/>
          <p:cNvPicPr preferRelativeResize="0"/>
          <p:nvPr/>
        </p:nvPicPr>
        <p:blipFill rotWithShape="1">
          <a:blip r:embed="rId3">
            <a:alphaModFix/>
          </a:blip>
          <a:srcRect b="0" l="0" r="0" t="0"/>
          <a:stretch/>
        </p:blipFill>
        <p:spPr>
          <a:xfrm>
            <a:off x="916781" y="3284934"/>
            <a:ext cx="5173265" cy="12549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628650" y="305990"/>
            <a:ext cx="7886700" cy="550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027159"/>
              </a:buClr>
              <a:buSzPts val="3300"/>
              <a:buFont typeface="Century Schoolbook"/>
              <a:buNone/>
            </a:pPr>
            <a:r>
              <a:rPr b="0" i="0" lang="en" sz="3300" u="none">
                <a:solidFill>
                  <a:srgbClr val="027159"/>
                </a:solidFill>
                <a:latin typeface="Century Schoolbook"/>
                <a:ea typeface="Century Schoolbook"/>
                <a:cs typeface="Century Schoolbook"/>
                <a:sym typeface="Century Schoolbook"/>
              </a:rPr>
              <a:t>Types of Ensemble Methods</a:t>
            </a:r>
            <a:endParaRPr/>
          </a:p>
        </p:txBody>
      </p:sp>
      <p:pic>
        <p:nvPicPr>
          <p:cNvPr id="224" name="Google Shape;224;p38"/>
          <p:cNvPicPr preferRelativeResize="0"/>
          <p:nvPr/>
        </p:nvPicPr>
        <p:blipFill rotWithShape="1">
          <a:blip r:embed="rId3">
            <a:alphaModFix/>
          </a:blip>
          <a:srcRect b="25368" l="0" r="0" t="0"/>
          <a:stretch/>
        </p:blipFill>
        <p:spPr>
          <a:xfrm>
            <a:off x="867975" y="1373977"/>
            <a:ext cx="7406874" cy="1371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628650" y="273844"/>
            <a:ext cx="7886700" cy="5487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027159"/>
              </a:buClr>
              <a:buSzPts val="3300"/>
              <a:buFont typeface="Century Schoolbook"/>
              <a:buNone/>
            </a:pPr>
            <a:r>
              <a:rPr b="0" i="0" lang="en" sz="3300" u="none">
                <a:solidFill>
                  <a:srgbClr val="027159"/>
                </a:solidFill>
                <a:latin typeface="Century Schoolbook"/>
                <a:ea typeface="Century Schoolbook"/>
                <a:cs typeface="Century Schoolbook"/>
                <a:sym typeface="Century Schoolbook"/>
              </a:rPr>
              <a:t>Bagging (Bootstrap Aggregating)</a:t>
            </a:r>
            <a:endParaRPr/>
          </a:p>
        </p:txBody>
      </p:sp>
      <p:sp>
        <p:nvSpPr>
          <p:cNvPr id="230" name="Google Shape;230;p39"/>
          <p:cNvSpPr txBox="1"/>
          <p:nvPr>
            <p:ph idx="1" type="body"/>
          </p:nvPr>
        </p:nvSpPr>
        <p:spPr>
          <a:xfrm>
            <a:off x="215503" y="931069"/>
            <a:ext cx="7886700" cy="789300"/>
          </a:xfrm>
          <a:prstGeom prst="rect">
            <a:avLst/>
          </a:prstGeom>
          <a:noFill/>
          <a:ln>
            <a:noFill/>
          </a:ln>
        </p:spPr>
        <p:txBody>
          <a:bodyPr anchorCtr="0" anchor="t" bIns="34275" lIns="68575" spcFirstLastPara="1" rIns="68575" wrap="square" tIns="34275">
            <a:noAutofit/>
          </a:bodyPr>
          <a:lstStyle/>
          <a:p>
            <a:pPr indent="-171450" lvl="0" marL="177800" marR="0" rtl="0" algn="just">
              <a:lnSpc>
                <a:spcPct val="90000"/>
              </a:lnSpc>
              <a:spcBef>
                <a:spcPts val="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Bagging is an ensemble technique that reduces variance by training many models independently on different bootstrap samples of the same dataset and aggregating their predictions.</a:t>
            </a:r>
            <a:endParaRPr/>
          </a:p>
          <a:p>
            <a:pPr indent="-171450" lvl="0" marL="177800" marR="0" rtl="0" algn="just">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Core Idea (Intuition)</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Resample the data many times (with replacement).</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Train one model per sample (all in parallel).</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Aggregate predictions (vote/average).</a:t>
            </a:r>
            <a:endParaRPr/>
          </a:p>
          <a:p>
            <a:pPr indent="-171450" lvl="0" marL="177800" marR="0" rtl="0" algn="just">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Why Bagging is Needed (Motivation)</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Some learning algorithms (especially decision trees) are high-variance</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Small changes in training data → very different models</a:t>
            </a:r>
            <a:endParaRPr/>
          </a:p>
          <a:p>
            <a:pPr indent="-177800" lvl="1" marL="520700" marR="0" rtl="0" algn="just">
              <a:lnSpc>
                <a:spcPct val="90000"/>
              </a:lnSpc>
              <a:spcBef>
                <a:spcPts val="400"/>
              </a:spcBef>
              <a:spcAft>
                <a:spcPts val="0"/>
              </a:spcAft>
              <a:buClr>
                <a:schemeClr val="dk1"/>
              </a:buClr>
              <a:buSzPts val="1200"/>
              <a:buFont typeface="Arial"/>
              <a:buChar char="•"/>
            </a:pPr>
            <a:r>
              <a:rPr b="0" i="0" lang="en" sz="1200" u="none" cap="none" strike="noStrike">
                <a:solidFill>
                  <a:schemeClr val="dk1"/>
                </a:solidFill>
                <a:latin typeface="Century Schoolbook"/>
                <a:ea typeface="Century Schoolbook"/>
                <a:cs typeface="Century Schoolbook"/>
                <a:sym typeface="Century Schoolbook"/>
              </a:rPr>
              <a:t>Leads to overfitting</a:t>
            </a:r>
            <a:endParaRPr/>
          </a:p>
          <a:p>
            <a:pPr indent="-171450" lvl="0" marL="177800" marR="0" rtl="0" algn="just">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Goal of Bagging:  </a:t>
            </a:r>
            <a:endParaRPr/>
          </a:p>
          <a:p>
            <a:pPr indent="-177800" lvl="0" marL="177800" marR="0" rtl="0" algn="just">
              <a:lnSpc>
                <a:spcPct val="90000"/>
              </a:lnSpc>
              <a:spcBef>
                <a:spcPts val="800"/>
              </a:spcBef>
              <a:spcAft>
                <a:spcPts val="0"/>
              </a:spcAft>
              <a:buClr>
                <a:schemeClr val="dk1"/>
              </a:buClr>
              <a:buSzPts val="1500"/>
              <a:buFont typeface="Arial"/>
              <a:buNone/>
            </a:pPr>
            <a:r>
              <a:t/>
            </a:r>
            <a:endParaRPr b="1" i="0" sz="1500" u="none">
              <a:solidFill>
                <a:srgbClr val="0070C0"/>
              </a:solidFill>
              <a:latin typeface="Century Schoolbook"/>
              <a:ea typeface="Century Schoolbook"/>
              <a:cs typeface="Century Schoolbook"/>
              <a:sym typeface="Century Schoolbook"/>
            </a:endParaRPr>
          </a:p>
          <a:p>
            <a:pPr indent="0" lvl="0" marL="0" marR="0" rtl="0" algn="just">
              <a:lnSpc>
                <a:spcPct val="90000"/>
              </a:lnSpc>
              <a:spcBef>
                <a:spcPts val="800"/>
              </a:spcBef>
              <a:spcAft>
                <a:spcPts val="0"/>
              </a:spcAft>
              <a:buNone/>
            </a:pPr>
            <a:r>
              <a:t/>
            </a:r>
            <a:endParaRPr/>
          </a:p>
        </p:txBody>
      </p:sp>
      <p:pic>
        <p:nvPicPr>
          <p:cNvPr descr="GitHub - harjeet-blue/Ensemble-Learning-Bagging-and-Boosting: Ensemble is a  machine learning concept in which multiple models are trained using the  same learning algorithm" id="231" name="Google Shape;231;p39"/>
          <p:cNvPicPr preferRelativeResize="0"/>
          <p:nvPr/>
        </p:nvPicPr>
        <p:blipFill rotWithShape="1">
          <a:blip r:embed="rId3">
            <a:alphaModFix/>
          </a:blip>
          <a:srcRect b="0" l="0" r="0" t="0"/>
          <a:stretch/>
        </p:blipFill>
        <p:spPr>
          <a:xfrm>
            <a:off x="5931694" y="1584721"/>
            <a:ext cx="3115866" cy="1844279"/>
          </a:xfrm>
          <a:prstGeom prst="rect">
            <a:avLst/>
          </a:prstGeom>
          <a:noFill/>
          <a:ln>
            <a:noFill/>
          </a:ln>
        </p:spPr>
      </p:pic>
      <p:pic>
        <p:nvPicPr>
          <p:cNvPr id="232" name="Google Shape;232;p39"/>
          <p:cNvPicPr preferRelativeResize="0"/>
          <p:nvPr/>
        </p:nvPicPr>
        <p:blipFill rotWithShape="1">
          <a:blip r:embed="rId4">
            <a:alphaModFix/>
          </a:blip>
          <a:srcRect b="0" l="0" r="0" t="0"/>
          <a:stretch/>
        </p:blipFill>
        <p:spPr>
          <a:xfrm>
            <a:off x="2226469" y="3518296"/>
            <a:ext cx="3036094" cy="350044"/>
          </a:xfrm>
          <a:prstGeom prst="rect">
            <a:avLst/>
          </a:prstGeom>
          <a:noFill/>
          <a:ln>
            <a:noFill/>
          </a:ln>
        </p:spPr>
      </p:pic>
      <p:pic>
        <p:nvPicPr>
          <p:cNvPr id="233" name="Google Shape;233;p39"/>
          <p:cNvPicPr preferRelativeResize="0"/>
          <p:nvPr/>
        </p:nvPicPr>
        <p:blipFill rotWithShape="1">
          <a:blip r:embed="rId5">
            <a:alphaModFix/>
          </a:blip>
          <a:srcRect b="0" l="0" r="0" t="0"/>
          <a:stretch/>
        </p:blipFill>
        <p:spPr>
          <a:xfrm>
            <a:off x="6398419" y="3801665"/>
            <a:ext cx="2421731" cy="7786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type="title"/>
          </p:nvPr>
        </p:nvSpPr>
        <p:spPr>
          <a:xfrm>
            <a:off x="628650" y="273844"/>
            <a:ext cx="8178300" cy="7275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rgbClr val="027159"/>
              </a:buClr>
              <a:buSzPts val="3300"/>
              <a:buFont typeface="Century Schoolbook"/>
              <a:buNone/>
            </a:pPr>
            <a:r>
              <a:rPr b="0" i="0" lang="en" sz="3300" u="none">
                <a:solidFill>
                  <a:srgbClr val="027159"/>
                </a:solidFill>
                <a:latin typeface="Century Schoolbook"/>
                <a:ea typeface="Century Schoolbook"/>
                <a:cs typeface="Century Schoolbook"/>
                <a:sym typeface="Century Schoolbook"/>
              </a:rPr>
              <a:t>Random Forest = Bagging + Feature Randomness</a:t>
            </a:r>
            <a:endParaRPr/>
          </a:p>
        </p:txBody>
      </p:sp>
      <p:sp>
        <p:nvSpPr>
          <p:cNvPr id="239" name="Google Shape;239;p40"/>
          <p:cNvSpPr txBox="1"/>
          <p:nvPr>
            <p:ph idx="1" type="body"/>
          </p:nvPr>
        </p:nvSpPr>
        <p:spPr>
          <a:xfrm>
            <a:off x="628650" y="1103709"/>
            <a:ext cx="7886700" cy="35289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What bagging does</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Bagging uses bootstrap sampling</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Each tree is trained on a different resampled version of the dataset</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Sampling is with replacement</a:t>
            </a:r>
            <a:endParaRPr/>
          </a:p>
          <a:p>
            <a:pPr indent="-171450" lvl="0" marL="177800" marR="0" rtl="0" algn="l">
              <a:lnSpc>
                <a:spcPct val="90000"/>
              </a:lnSpc>
              <a:spcBef>
                <a:spcPts val="800"/>
              </a:spcBef>
              <a:spcAft>
                <a:spcPts val="0"/>
              </a:spcAft>
              <a:buClr>
                <a:srgbClr val="0070C0"/>
              </a:buClr>
              <a:buSzPts val="1500"/>
              <a:buFont typeface="Arial"/>
              <a:buChar char="•"/>
            </a:pPr>
            <a:r>
              <a:rPr b="1" i="0" lang="en" sz="1500" u="none">
                <a:solidFill>
                  <a:srgbClr val="0070C0"/>
                </a:solidFill>
                <a:latin typeface="Century Schoolbook"/>
                <a:ea typeface="Century Schoolbook"/>
                <a:cs typeface="Century Schoolbook"/>
                <a:sym typeface="Century Schoolbook"/>
              </a:rPr>
              <a:t>What feature randomness does</a:t>
            </a:r>
            <a:endParaRPr/>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At each split:</a:t>
            </a:r>
            <a:endParaRPr/>
          </a:p>
          <a:p>
            <a:pPr indent="-171450" lvl="2" marL="8636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Instead of considering all features</a:t>
            </a:r>
            <a:endParaRPr/>
          </a:p>
          <a:p>
            <a:pPr indent="-171450" lvl="2" marL="8636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entury Schoolbook"/>
                <a:ea typeface="Century Schoolbook"/>
                <a:cs typeface="Century Schoolbook"/>
                <a:sym typeface="Century Schoolbook"/>
              </a:rPr>
              <a:t>Random Forest considers only a random subset of features</a:t>
            </a:r>
            <a:endParaRPr/>
          </a:p>
        </p:txBody>
      </p:sp>
      <p:pic>
        <p:nvPicPr>
          <p:cNvPr id="240" name="Google Shape;240;p40"/>
          <p:cNvPicPr preferRelativeResize="0"/>
          <p:nvPr/>
        </p:nvPicPr>
        <p:blipFill rotWithShape="1">
          <a:blip r:embed="rId3">
            <a:alphaModFix/>
          </a:blip>
          <a:srcRect b="0" l="0" r="0" t="0"/>
          <a:stretch/>
        </p:blipFill>
        <p:spPr>
          <a:xfrm>
            <a:off x="994171" y="3293269"/>
            <a:ext cx="4894658" cy="120729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Anurag Singh</a:t>
            </a:r>
            <a:endParaRPr sz="1000">
              <a:solidFill>
                <a:srgbClr val="000000"/>
              </a:solidFill>
            </a:endParaRPr>
          </a:p>
          <a:p>
            <a:pPr indent="0" lvl="0" marL="0" rtl="0" algn="l">
              <a:spcBef>
                <a:spcPts val="0"/>
              </a:spcBef>
              <a:spcAft>
                <a:spcPts val="0"/>
              </a:spcAft>
              <a:buNone/>
            </a:pPr>
            <a:r>
              <a:rPr b="1" lang="en" sz="1000">
                <a:solidFill>
                  <a:srgbClr val="000000"/>
                </a:solidFill>
              </a:rPr>
              <a:t>4. Need a revision lecture on adaptive and gradient boosting with a use case</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Namrata Modi</a:t>
            </a:r>
            <a:endParaRPr sz="1000">
              <a:solidFill>
                <a:srgbClr val="000000"/>
              </a:solidFill>
            </a:endParaRPr>
          </a:p>
          <a:p>
            <a:pPr indent="0" lvl="0" marL="0" rtl="0" algn="l">
              <a:spcBef>
                <a:spcPts val="0"/>
              </a:spcBef>
              <a:spcAft>
                <a:spcPts val="0"/>
              </a:spcAft>
              <a:buNone/>
            </a:pPr>
            <a:r>
              <a:rPr b="1" lang="en" sz="1000">
                <a:solidFill>
                  <a:srgbClr val="000000"/>
                </a:solidFill>
              </a:rPr>
              <a:t>5. When dataset is complex and nonlinear how to choose suitable boosting method? If data contains more categorical features then how to decide method plz explain?</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Ankita Roy</a:t>
            </a:r>
            <a:endParaRPr sz="1000">
              <a:solidFill>
                <a:srgbClr val="000000"/>
              </a:solidFill>
            </a:endParaRPr>
          </a:p>
          <a:p>
            <a:pPr indent="0" lvl="0" marL="0" rtl="0" algn="l">
              <a:spcBef>
                <a:spcPts val="0"/>
              </a:spcBef>
              <a:spcAft>
                <a:spcPts val="0"/>
              </a:spcAft>
              <a:buNone/>
            </a:pPr>
            <a:r>
              <a:rPr b="1" lang="en" sz="1000">
                <a:solidFill>
                  <a:srgbClr val="000000"/>
                </a:solidFill>
              </a:rPr>
              <a:t>6. I need more clarification regarding some usecase of xgboosting that we can implement for real world ai/ml application.</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1200"/>
              </a:spcAft>
              <a:buNone/>
            </a:pPr>
            <a:r>
              <a:t/>
            </a:r>
            <a:endParaRPr/>
          </a:p>
        </p:txBody>
      </p:sp>
      <p:sp>
        <p:nvSpPr>
          <p:cNvPr id="246" name="Google Shape;24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2"/>
          <p:cNvSpPr txBox="1"/>
          <p:nvPr>
            <p:ph type="title"/>
          </p:nvPr>
        </p:nvSpPr>
        <p:spPr>
          <a:xfrm>
            <a:off x="628650" y="273844"/>
            <a:ext cx="7886700" cy="5493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rgbClr val="027159"/>
              </a:buClr>
              <a:buSzPts val="3300"/>
              <a:buFont typeface="Century Schoolbook"/>
              <a:buNone/>
            </a:pPr>
            <a:r>
              <a:rPr lang="en">
                <a:solidFill>
                  <a:srgbClr val="027159"/>
                </a:solidFill>
              </a:rPr>
              <a:t>Boosting</a:t>
            </a:r>
            <a:endParaRPr/>
          </a:p>
        </p:txBody>
      </p:sp>
      <p:sp>
        <p:nvSpPr>
          <p:cNvPr id="252" name="Google Shape;252;p42"/>
          <p:cNvSpPr txBox="1"/>
          <p:nvPr>
            <p:ph idx="1" type="body"/>
          </p:nvPr>
        </p:nvSpPr>
        <p:spPr>
          <a:xfrm>
            <a:off x="628650" y="1103812"/>
            <a:ext cx="7886700" cy="3528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a:t>AdaBoost (Adaptive Boosting) </a:t>
            </a:r>
            <a:endParaRPr/>
          </a:p>
          <a:p>
            <a:pPr indent="0" lvl="0" marL="0" rtl="0" algn="l">
              <a:spcBef>
                <a:spcPts val="800"/>
              </a:spcBef>
              <a:spcAft>
                <a:spcPts val="0"/>
              </a:spcAft>
              <a:buNone/>
            </a:pPr>
            <a:r>
              <a:rPr lang="en" sz="1500">
                <a:solidFill>
                  <a:schemeClr val="dk1"/>
                </a:solidFill>
              </a:rPr>
              <a:t>It is an ensemble learning technique that combines multiple weak classifiers to build a strong model. It works by sequentially focusing more on the misclassified data points from previous models.</a:t>
            </a:r>
            <a:endParaRPr sz="1500">
              <a:solidFill>
                <a:schemeClr val="dk1"/>
              </a:solidFill>
            </a:endParaRPr>
          </a:p>
          <a:p>
            <a:pPr indent="0" lvl="0" marL="0" rtl="0" algn="l">
              <a:spcBef>
                <a:spcPts val="800"/>
              </a:spcBef>
              <a:spcAft>
                <a:spcPts val="0"/>
              </a:spcAft>
              <a:buNone/>
            </a:pPr>
            <a:r>
              <a:t/>
            </a:r>
            <a:endParaRPr>
              <a:solidFill>
                <a:schemeClr val="dk1"/>
              </a:solidFill>
            </a:endParaRPr>
          </a:p>
          <a:p>
            <a:pPr indent="-323850" lvl="0" marL="457200" rtl="0" algn="l">
              <a:spcBef>
                <a:spcPts val="800"/>
              </a:spcBef>
              <a:spcAft>
                <a:spcPts val="0"/>
              </a:spcAft>
              <a:buClr>
                <a:schemeClr val="dk1"/>
              </a:buClr>
              <a:buSzPts val="1500"/>
              <a:buChar char="•"/>
            </a:pPr>
            <a:r>
              <a:rPr lang="en" sz="1500">
                <a:solidFill>
                  <a:schemeClr val="dk1"/>
                </a:solidFill>
              </a:rPr>
              <a:t>Trains models sequentially, each correcting previous errors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Assigns higher weights to misclassified samples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Final prediction is made using weighted voting</a:t>
            </a:r>
            <a:endParaRPr sz="15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txBox="1"/>
          <p:nvPr>
            <p:ph type="title"/>
          </p:nvPr>
        </p:nvSpPr>
        <p:spPr>
          <a:xfrm>
            <a:off x="628650" y="273844"/>
            <a:ext cx="7886700" cy="5493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a:solidFill>
                  <a:srgbClr val="027159"/>
                </a:solidFill>
              </a:rPr>
              <a:t>Boosting</a:t>
            </a:r>
            <a:endParaRPr/>
          </a:p>
        </p:txBody>
      </p:sp>
      <p:sp>
        <p:nvSpPr>
          <p:cNvPr id="258" name="Google Shape;258;p43"/>
          <p:cNvSpPr txBox="1"/>
          <p:nvPr>
            <p:ph idx="1" type="body"/>
          </p:nvPr>
        </p:nvSpPr>
        <p:spPr>
          <a:xfrm>
            <a:off x="628650" y="1103812"/>
            <a:ext cx="7886700" cy="3528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a:t>Gradient Boosting</a:t>
            </a:r>
            <a:endParaRPr/>
          </a:p>
          <a:p>
            <a:pPr indent="0" lvl="0" marL="0" rtl="0" algn="l">
              <a:spcBef>
                <a:spcPts val="800"/>
              </a:spcBef>
              <a:spcAft>
                <a:spcPts val="0"/>
              </a:spcAft>
              <a:buNone/>
            </a:pPr>
            <a:r>
              <a:rPr lang="en" sz="1500">
                <a:solidFill>
                  <a:schemeClr val="dk1"/>
                </a:solidFill>
              </a:rPr>
              <a:t>Gradient Boosting is the boosting algorithm that works on the principle of the stagewise addition method, where multiple weak learning algorithms are trained and a strong learner algorithm is used as a final model from the addition of multiple weak learning algorithms trained on the same dataset.</a:t>
            </a:r>
            <a:endParaRPr sz="1500">
              <a:solidFill>
                <a:schemeClr val="dk1"/>
              </a:solidFill>
            </a:endParaRPr>
          </a:p>
          <a:p>
            <a:pPr indent="-323850" lvl="0" marL="457200" rtl="0" algn="l">
              <a:spcBef>
                <a:spcPts val="800"/>
              </a:spcBef>
              <a:spcAft>
                <a:spcPts val="0"/>
              </a:spcAft>
              <a:buClr>
                <a:schemeClr val="dk1"/>
              </a:buClr>
              <a:buSzPts val="1500"/>
              <a:buChar char="•"/>
            </a:pPr>
            <a:r>
              <a:rPr lang="en" sz="1500">
                <a:solidFill>
                  <a:schemeClr val="dk1"/>
                </a:solidFill>
              </a:rPr>
              <a:t>In the gradient boosting algorithm, the first weak learner will not be trained on the dataset, it will simply return the mean of the particular column, and the residual for output of the first weak learner algorithm will be calculated which will be used as output or target column for next weak learning algorithm which is to be trained.</a:t>
            </a:r>
            <a:endParaRPr sz="1500">
              <a:solidFill>
                <a:schemeClr val="dk1"/>
              </a:solidFill>
            </a:endParaRPr>
          </a:p>
          <a:p>
            <a:pPr indent="0" lvl="0" marL="457200" rtl="0" algn="l">
              <a:spcBef>
                <a:spcPts val="800"/>
              </a:spcBef>
              <a:spcAft>
                <a:spcPts val="0"/>
              </a:spcAft>
              <a:buNone/>
            </a:pPr>
            <a:r>
              <a:t/>
            </a:r>
            <a:endParaRPr sz="1500">
              <a:solidFill>
                <a:schemeClr val="dk1"/>
              </a:solidFill>
            </a:endParaRPr>
          </a:p>
          <a:p>
            <a:pPr indent="-323850" lvl="0" marL="457200" rtl="0" algn="l">
              <a:spcBef>
                <a:spcPts val="800"/>
              </a:spcBef>
              <a:spcAft>
                <a:spcPts val="0"/>
              </a:spcAft>
              <a:buClr>
                <a:schemeClr val="dk1"/>
              </a:buClr>
              <a:buSzPts val="1500"/>
              <a:buChar char="•"/>
            </a:pPr>
            <a:r>
              <a:rPr lang="en" sz="1500">
                <a:solidFill>
                  <a:schemeClr val="dk1"/>
                </a:solidFill>
              </a:rPr>
              <a:t>Following the same pattern, the second weak learner will be trained and the residuals will be calculated which will be used as an output column again for the next weak learner, this is how this process will continue until we reach zero residuals.</a:t>
            </a:r>
            <a:endParaRPr sz="1500">
              <a:solidFill>
                <a:schemeClr val="dk1"/>
              </a:solidFill>
            </a:endParaRPr>
          </a:p>
          <a:p>
            <a:pPr indent="0" lvl="0" marL="457200" rtl="0" algn="l">
              <a:spcBef>
                <a:spcPts val="800"/>
              </a:spcBef>
              <a:spcAft>
                <a:spcPts val="0"/>
              </a:spcAft>
              <a:buNone/>
            </a:pPr>
            <a:r>
              <a:t/>
            </a:r>
            <a:endParaRPr sz="15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Ankit Verma</a:t>
            </a:r>
            <a:endParaRPr sz="1000">
              <a:solidFill>
                <a:srgbClr val="000000"/>
              </a:solidFill>
            </a:endParaRPr>
          </a:p>
          <a:p>
            <a:pPr indent="0" lvl="0" marL="0" rtl="0" algn="l">
              <a:spcBef>
                <a:spcPts val="0"/>
              </a:spcBef>
              <a:spcAft>
                <a:spcPts val="0"/>
              </a:spcAft>
              <a:buNone/>
            </a:pPr>
            <a:r>
              <a:rPr b="1" lang="en" sz="1000">
                <a:solidFill>
                  <a:srgbClr val="000000"/>
                </a:solidFill>
              </a:rPr>
              <a:t>7. Please explain adaboosting replacement and weighed method?</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267" name="Shape 267"/>
        <p:cNvGrpSpPr/>
        <p:nvPr/>
      </p:nvGrpSpPr>
      <p:grpSpPr>
        <a:xfrm>
          <a:off x="0" y="0"/>
          <a:ext cx="0" cy="0"/>
          <a:chOff x="0" y="0"/>
          <a:chExt cx="0" cy="0"/>
        </a:xfrm>
      </p:grpSpPr>
      <p:sp>
        <p:nvSpPr>
          <p:cNvPr id="268" name="Google Shape;26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5</a:t>
            </a:r>
            <a:endParaRPr/>
          </a:p>
        </p:txBody>
      </p:sp>
      <p:sp>
        <p:nvSpPr>
          <p:cNvPr id="269" name="Google Shape;269;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000">
                <a:solidFill>
                  <a:schemeClr val="dk1"/>
                </a:solidFill>
              </a:rPr>
              <a:t>Unsupervised learning: K-means clustering and PCA</a:t>
            </a:r>
            <a:endParaRPr/>
          </a:p>
        </p:txBody>
      </p:sp>
      <p:sp>
        <p:nvSpPr>
          <p:cNvPr id="270" name="Google Shape;27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idx="1" type="body"/>
          </p:nvPr>
        </p:nvSpPr>
        <p:spPr>
          <a:xfrm>
            <a:off x="311700" y="6105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Amit Kumar</a:t>
            </a:r>
            <a:endParaRPr sz="1000">
              <a:solidFill>
                <a:srgbClr val="000000"/>
              </a:solidFill>
            </a:endParaRPr>
          </a:p>
          <a:p>
            <a:pPr indent="0" lvl="0" marL="0" rtl="0" algn="l">
              <a:spcBef>
                <a:spcPts val="0"/>
              </a:spcBef>
              <a:spcAft>
                <a:spcPts val="0"/>
              </a:spcAft>
              <a:buNone/>
            </a:pPr>
            <a:r>
              <a:rPr b="1" lang="en" sz="1000">
                <a:solidFill>
                  <a:srgbClr val="000000"/>
                </a:solidFill>
              </a:rPr>
              <a:t>1. </a:t>
            </a:r>
            <a:r>
              <a:rPr b="1" lang="en" sz="1000">
                <a:solidFill>
                  <a:srgbClr val="000000"/>
                </a:solidFill>
              </a:rPr>
              <a:t>I need further more clarity on K mean and PCA concept with examples</a:t>
            </a:r>
            <a:endParaRPr b="1" sz="1000">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0"/>
              </a:spcBef>
              <a:spcAft>
                <a:spcPts val="0"/>
              </a:spcAft>
              <a:buNone/>
            </a:pPr>
            <a:r>
              <a:rPr lang="en" sz="1000">
                <a:solidFill>
                  <a:srgbClr val="000000"/>
                </a:solidFill>
              </a:rPr>
              <a:t>Amol Shrikrishna Tathe</a:t>
            </a:r>
            <a:endParaRPr sz="1000">
              <a:solidFill>
                <a:srgbClr val="000000"/>
              </a:solidFill>
            </a:endParaRPr>
          </a:p>
          <a:p>
            <a:pPr indent="0" lvl="0" marL="0" rtl="0" algn="l">
              <a:spcBef>
                <a:spcPts val="0"/>
              </a:spcBef>
              <a:spcAft>
                <a:spcPts val="0"/>
              </a:spcAft>
              <a:buNone/>
            </a:pPr>
            <a:r>
              <a:rPr b="1" lang="en" sz="1000">
                <a:solidFill>
                  <a:srgbClr val="000000"/>
                </a:solidFill>
              </a:rPr>
              <a:t>2. Need to understand with real examples</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0"/>
              </a:spcAft>
              <a:buNone/>
            </a:pPr>
            <a:r>
              <a:rPr lang="en" sz="1000">
                <a:solidFill>
                  <a:srgbClr val="000000"/>
                </a:solidFill>
              </a:rPr>
              <a:t>Amit Kumar</a:t>
            </a:r>
            <a:endParaRPr sz="1000">
              <a:solidFill>
                <a:srgbClr val="000000"/>
              </a:solidFill>
            </a:endParaRPr>
          </a:p>
          <a:p>
            <a:pPr indent="0" lvl="0" marL="0" rtl="0" algn="l">
              <a:spcBef>
                <a:spcPts val="0"/>
              </a:spcBef>
              <a:spcAft>
                <a:spcPts val="0"/>
              </a:spcAft>
              <a:buNone/>
            </a:pPr>
            <a:r>
              <a:rPr b="1" lang="en" sz="1000">
                <a:solidFill>
                  <a:srgbClr val="000000"/>
                </a:solidFill>
              </a:rPr>
              <a:t>3. I need further more clarity on K mean and PCA concept with examples</a:t>
            </a:r>
            <a:endParaRPr b="1" sz="1000">
              <a:solidFill>
                <a:srgbClr val="000000"/>
              </a:solidFill>
            </a:endParaRPr>
          </a:p>
          <a:p>
            <a:pPr indent="0" lvl="0" marL="0" rtl="0" algn="l">
              <a:spcBef>
                <a:spcPts val="0"/>
              </a:spcBef>
              <a:spcAft>
                <a:spcPts val="0"/>
              </a:spcAft>
              <a:buNone/>
            </a:pPr>
            <a:r>
              <a:t/>
            </a:r>
            <a:endParaRPr sz="1000">
              <a:solidFill>
                <a:srgbClr val="000000"/>
              </a:solidFill>
            </a:endParaRPr>
          </a:p>
          <a:p>
            <a:pPr indent="0" lvl="0" marL="0" rtl="0" algn="l">
              <a:spcBef>
                <a:spcPts val="0"/>
              </a:spcBef>
              <a:spcAft>
                <a:spcPts val="1200"/>
              </a:spcAft>
              <a:buNone/>
            </a:pPr>
            <a:r>
              <a:t/>
            </a:r>
            <a:endParaRPr/>
          </a:p>
        </p:txBody>
      </p:sp>
      <p:sp>
        <p:nvSpPr>
          <p:cNvPr id="276" name="Google Shape;27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2" name="Google Shape;28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3" name="Google Shape;283;p4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87" name="Shape 287"/>
        <p:cNvGrpSpPr/>
        <p:nvPr/>
      </p:nvGrpSpPr>
      <p:grpSpPr>
        <a:xfrm>
          <a:off x="0" y="0"/>
          <a:ext cx="0" cy="0"/>
          <a:chOff x="0" y="0"/>
          <a:chExt cx="0" cy="0"/>
        </a:xfrm>
      </p:grpSpPr>
      <p:sp>
        <p:nvSpPr>
          <p:cNvPr id="288" name="Google Shape;288;p48"/>
          <p:cNvSpPr txBox="1"/>
          <p:nvPr>
            <p:ph idx="1" type="body"/>
          </p:nvPr>
        </p:nvSpPr>
        <p:spPr>
          <a:xfrm>
            <a:off x="311700" y="393750"/>
            <a:ext cx="8520600" cy="3416400"/>
          </a:xfrm>
          <a:prstGeom prst="rect">
            <a:avLst/>
          </a:prstGeom>
        </p:spPr>
        <p:txBody>
          <a:bodyPr anchorCtr="0" anchor="t" bIns="91425" lIns="91425" spcFirstLastPara="1" rIns="91425" wrap="square" tIns="91425">
            <a:normAutofit/>
          </a:bodyPr>
          <a:lstStyle/>
          <a:p>
            <a:pPr indent="0" lvl="0" marL="0" rtl="0" algn="l">
              <a:spcBef>
                <a:spcPts val="700"/>
              </a:spcBef>
              <a:spcAft>
                <a:spcPts val="0"/>
              </a:spcAft>
              <a:buClr>
                <a:schemeClr val="dk1"/>
              </a:buClr>
              <a:buSzPts val="1100"/>
              <a:buFont typeface="Arial"/>
              <a:buNone/>
            </a:pPr>
            <a:r>
              <a:rPr lang="en" sz="1500">
                <a:solidFill>
                  <a:schemeClr val="dk1"/>
                </a:solidFill>
              </a:rPr>
              <a:t>How does K-means work?</a:t>
            </a:r>
            <a:endParaRPr sz="1500">
              <a:solidFill>
                <a:schemeClr val="dk1"/>
              </a:solidFill>
            </a:endParaRPr>
          </a:p>
          <a:p>
            <a:pPr indent="-304800" lvl="0" marL="457200" rtl="0" algn="l">
              <a:spcBef>
                <a:spcPts val="700"/>
              </a:spcBef>
              <a:spcAft>
                <a:spcPts val="0"/>
              </a:spcAft>
              <a:buClr>
                <a:schemeClr val="dk1"/>
              </a:buClr>
              <a:buSzPts val="1200"/>
              <a:buAutoNum type="arabicPeriod"/>
            </a:pPr>
            <a:r>
              <a:rPr lang="en" sz="1200">
                <a:solidFill>
                  <a:schemeClr val="dk1"/>
                </a:solidFill>
              </a:rPr>
              <a:t>Initialize centroids: Randomly select K data points from the dataset to serve as the initial centroids.</a:t>
            </a:r>
            <a:endParaRPr sz="1200">
              <a:solidFill>
                <a:schemeClr val="dk1"/>
              </a:solidFill>
            </a:endParaRPr>
          </a:p>
          <a:p>
            <a:pPr indent="-304800" lvl="0" marL="457200" rtl="0" algn="l">
              <a:spcBef>
                <a:spcPts val="0"/>
              </a:spcBef>
              <a:spcAft>
                <a:spcPts val="0"/>
              </a:spcAft>
              <a:buClr>
                <a:schemeClr val="dk1"/>
              </a:buClr>
              <a:buSzPts val="1200"/>
              <a:buAutoNum type="arabicPeriod"/>
            </a:pPr>
            <a:r>
              <a:rPr b="1" i="1" lang="en" sz="1200">
                <a:solidFill>
                  <a:schemeClr val="dk1"/>
                </a:solidFill>
              </a:rPr>
              <a:t>E Step</a:t>
            </a:r>
            <a:r>
              <a:rPr lang="en" sz="1200">
                <a:solidFill>
                  <a:schemeClr val="dk1"/>
                </a:solidFill>
              </a:rPr>
              <a:t> Assign data points to clusters: Calculate the distance between each data point and each centroid. Assign each data point to the cluster whose centroid is closest to it.</a:t>
            </a:r>
            <a:endParaRPr sz="1200">
              <a:solidFill>
                <a:schemeClr val="dk1"/>
              </a:solidFill>
            </a:endParaRPr>
          </a:p>
          <a:p>
            <a:pPr indent="-304800" lvl="0" marL="457200" rtl="0" algn="l">
              <a:spcBef>
                <a:spcPts val="0"/>
              </a:spcBef>
              <a:spcAft>
                <a:spcPts val="0"/>
              </a:spcAft>
              <a:buClr>
                <a:schemeClr val="dk1"/>
              </a:buClr>
              <a:buSzPts val="1200"/>
              <a:buAutoNum type="arabicPeriod"/>
            </a:pPr>
            <a:r>
              <a:rPr b="1" i="1" lang="en" sz="1200">
                <a:solidFill>
                  <a:schemeClr val="dk1"/>
                </a:solidFill>
              </a:rPr>
              <a:t>M Step</a:t>
            </a:r>
            <a:r>
              <a:rPr lang="en" sz="1200">
                <a:solidFill>
                  <a:schemeClr val="dk1"/>
                </a:solidFill>
              </a:rPr>
              <a:t> Update centroids: Recalculate the centroids of the clusters based on the mean of the data points assigned to each cluster.</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Repeat steps 2 and 3: Iterate the assignment and update steps until convergence. Convergence occurs when the centroids no longer change significantly or a maximum number of iterations is reached.</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Finalize clusters: Once convergence is achieved, the algorithm stops, and the final clusters are determined.</a:t>
            </a:r>
            <a:endParaRPr sz="1200">
              <a:solidFill>
                <a:schemeClr val="dk1"/>
              </a:solidFill>
            </a:endParaRPr>
          </a:p>
          <a:p>
            <a:pPr indent="0" lvl="0" marL="0" rtl="0" algn="l">
              <a:spcBef>
                <a:spcPts val="6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9"/>
          <p:cNvSpPr txBox="1"/>
          <p:nvPr>
            <p:ph idx="1" type="body"/>
          </p:nvPr>
        </p:nvSpPr>
        <p:spPr>
          <a:xfrm>
            <a:off x="311700" y="6105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Sreekumar MS</a:t>
            </a:r>
            <a:endParaRPr sz="1000">
              <a:solidFill>
                <a:srgbClr val="000000"/>
              </a:solidFill>
            </a:endParaRPr>
          </a:p>
          <a:p>
            <a:pPr indent="0" lvl="0" marL="0" rtl="0" algn="l">
              <a:spcBef>
                <a:spcPts val="0"/>
              </a:spcBef>
              <a:spcAft>
                <a:spcPts val="0"/>
              </a:spcAft>
              <a:buNone/>
            </a:pPr>
            <a:r>
              <a:rPr b="1" lang="en" sz="1000">
                <a:solidFill>
                  <a:srgbClr val="000000"/>
                </a:solidFill>
              </a:rPr>
              <a:t>4.I am asking this question before attending Unsupervised learning. How can we handle a data which is a mixture of labelled and unlabeled data. Alternatively how can we take advantage of partially labelled data.</a:t>
            </a:r>
            <a:endParaRPr b="1" sz="1000">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1200"/>
              </a:spcBef>
              <a:spcAft>
                <a:spcPts val="0"/>
              </a:spcAft>
              <a:buNone/>
            </a:pPr>
            <a:r>
              <a:t/>
            </a:r>
            <a:endParaRPr b="1" sz="1000">
              <a:solidFill>
                <a:srgbClr val="000000"/>
              </a:solidFill>
            </a:endParaRPr>
          </a:p>
          <a:p>
            <a:pPr indent="-292100" lvl="0" marL="457200" rtl="0" algn="l">
              <a:spcBef>
                <a:spcPts val="1200"/>
              </a:spcBef>
              <a:spcAft>
                <a:spcPts val="0"/>
              </a:spcAft>
              <a:buClr>
                <a:srgbClr val="000000"/>
              </a:buClr>
              <a:buSzPts val="1000"/>
              <a:buAutoNum type="arabicPeriod"/>
            </a:pPr>
            <a:r>
              <a:rPr b="1" lang="en" sz="1000">
                <a:solidFill>
                  <a:srgbClr val="000000"/>
                </a:solidFill>
              </a:rPr>
              <a:t>Weak Supervision</a:t>
            </a:r>
            <a:endParaRPr b="1" sz="1000">
              <a:solidFill>
                <a:srgbClr val="000000"/>
              </a:solidFill>
            </a:endParaRPr>
          </a:p>
          <a:p>
            <a:pPr indent="-292100" lvl="1" marL="914400" rtl="0" algn="l">
              <a:spcBef>
                <a:spcPts val="0"/>
              </a:spcBef>
              <a:spcAft>
                <a:spcPts val="0"/>
              </a:spcAft>
              <a:buClr>
                <a:srgbClr val="000000"/>
              </a:buClr>
              <a:buSzPts val="1000"/>
              <a:buAutoNum type="alphaLcPeriod"/>
            </a:pPr>
            <a:r>
              <a:rPr b="1" lang="en" sz="1000">
                <a:solidFill>
                  <a:srgbClr val="000000"/>
                </a:solidFill>
              </a:rPr>
              <a:t>Leverages heuristics (labelling function) to generate labels</a:t>
            </a:r>
            <a:endParaRPr b="1" sz="1000">
              <a:solidFill>
                <a:srgbClr val="000000"/>
              </a:solidFill>
            </a:endParaRPr>
          </a:p>
          <a:p>
            <a:pPr indent="-292100" lvl="1" marL="914400" rtl="0" algn="l">
              <a:spcBef>
                <a:spcPts val="0"/>
              </a:spcBef>
              <a:spcAft>
                <a:spcPts val="0"/>
              </a:spcAft>
              <a:buClr>
                <a:srgbClr val="000000"/>
              </a:buClr>
              <a:buSzPts val="1000"/>
              <a:buAutoNum type="alphaLcPeriod"/>
            </a:pPr>
            <a:r>
              <a:rPr b="1" lang="en" sz="1000">
                <a:solidFill>
                  <a:srgbClr val="000000"/>
                </a:solidFill>
              </a:rPr>
              <a:t>Small number of labels are recommended to guide heuristics              </a:t>
            </a:r>
            <a:endParaRPr b="1" sz="1000">
              <a:solidFill>
                <a:srgbClr val="000000"/>
              </a:solidFill>
            </a:endParaRPr>
          </a:p>
          <a:p>
            <a:pPr indent="-292100" lvl="0" marL="457200" rtl="0" algn="l">
              <a:spcBef>
                <a:spcPts val="0"/>
              </a:spcBef>
              <a:spcAft>
                <a:spcPts val="0"/>
              </a:spcAft>
              <a:buClr>
                <a:srgbClr val="000000"/>
              </a:buClr>
              <a:buSzPts val="1000"/>
              <a:buAutoNum type="arabicPeriod"/>
            </a:pPr>
            <a:r>
              <a:rPr b="1" lang="en" sz="1000">
                <a:solidFill>
                  <a:srgbClr val="000000"/>
                </a:solidFill>
              </a:rPr>
              <a:t>Semi Supervision</a:t>
            </a:r>
            <a:endParaRPr b="1" sz="1000">
              <a:solidFill>
                <a:srgbClr val="000000"/>
              </a:solidFill>
            </a:endParaRPr>
          </a:p>
          <a:p>
            <a:pPr indent="-292100" lvl="1" marL="914400" rtl="0" algn="l">
              <a:spcBef>
                <a:spcPts val="0"/>
              </a:spcBef>
              <a:spcAft>
                <a:spcPts val="0"/>
              </a:spcAft>
              <a:buClr>
                <a:srgbClr val="000000"/>
              </a:buClr>
              <a:buSzPts val="1000"/>
              <a:buAutoNum type="alphaLcPeriod"/>
            </a:pPr>
            <a:r>
              <a:rPr b="1" lang="en" sz="1000">
                <a:solidFill>
                  <a:srgbClr val="000000"/>
                </a:solidFill>
              </a:rPr>
              <a:t>Leverages structural assumptions to generate labels</a:t>
            </a:r>
            <a:endParaRPr b="1" sz="1000">
              <a:solidFill>
                <a:srgbClr val="000000"/>
              </a:solidFill>
            </a:endParaRPr>
          </a:p>
          <a:p>
            <a:pPr indent="-292100" lvl="1" marL="914400" rtl="0" algn="l">
              <a:spcBef>
                <a:spcPts val="0"/>
              </a:spcBef>
              <a:spcAft>
                <a:spcPts val="0"/>
              </a:spcAft>
              <a:buClr>
                <a:srgbClr val="000000"/>
              </a:buClr>
              <a:buSzPts val="1000"/>
              <a:buAutoNum type="alphaLcPeriod"/>
            </a:pPr>
            <a:r>
              <a:rPr b="1" lang="en" sz="1000">
                <a:solidFill>
                  <a:srgbClr val="000000"/>
                </a:solidFill>
              </a:rPr>
              <a:t>Two methods (not exhaustive):</a:t>
            </a:r>
            <a:endParaRPr b="1" sz="1000">
              <a:solidFill>
                <a:srgbClr val="000000"/>
              </a:solidFill>
            </a:endParaRPr>
          </a:p>
          <a:p>
            <a:pPr indent="-292100" lvl="2" marL="1371600" rtl="0" algn="l">
              <a:spcBef>
                <a:spcPts val="0"/>
              </a:spcBef>
              <a:spcAft>
                <a:spcPts val="0"/>
              </a:spcAft>
              <a:buClr>
                <a:srgbClr val="000000"/>
              </a:buClr>
              <a:buSzPts val="1000"/>
              <a:buAutoNum type="romanLcPeriod"/>
            </a:pPr>
            <a:r>
              <a:rPr b="1" lang="en" sz="1000">
                <a:solidFill>
                  <a:srgbClr val="000000"/>
                </a:solidFill>
              </a:rPr>
              <a:t>Self-training</a:t>
            </a:r>
            <a:endParaRPr b="1" sz="1000">
              <a:solidFill>
                <a:srgbClr val="000000"/>
              </a:solidFill>
            </a:endParaRPr>
          </a:p>
          <a:p>
            <a:pPr indent="-292100" lvl="2" marL="1371600" rtl="0" algn="l">
              <a:spcBef>
                <a:spcPts val="0"/>
              </a:spcBef>
              <a:spcAft>
                <a:spcPts val="0"/>
              </a:spcAft>
              <a:buClr>
                <a:srgbClr val="000000"/>
              </a:buClr>
              <a:buSzPts val="1000"/>
              <a:buAutoNum type="romanLcPeriod"/>
            </a:pPr>
            <a:r>
              <a:rPr b="1" lang="en" sz="1000">
                <a:solidFill>
                  <a:srgbClr val="000000"/>
                </a:solidFill>
              </a:rPr>
              <a:t>Add Perturbations</a:t>
            </a:r>
            <a:endParaRPr b="1" sz="100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000000"/>
                </a:solidFill>
              </a:rPr>
              <a:t>Ashok Kakade</a:t>
            </a:r>
            <a:endParaRPr sz="1000">
              <a:solidFill>
                <a:srgbClr val="000000"/>
              </a:solidFill>
            </a:endParaRPr>
          </a:p>
          <a:p>
            <a:pPr indent="0" lvl="0" marL="0" rtl="0" algn="l">
              <a:spcBef>
                <a:spcPts val="0"/>
              </a:spcBef>
              <a:spcAft>
                <a:spcPts val="0"/>
              </a:spcAft>
              <a:buNone/>
            </a:pPr>
            <a:r>
              <a:rPr b="1" lang="en" sz="1000">
                <a:solidFill>
                  <a:srgbClr val="000000"/>
                </a:solidFill>
              </a:rPr>
              <a:t>5. what is the essence of Accuracy if accuracy score doesn't matter ?</a:t>
            </a:r>
            <a:endParaRPr b="1" sz="10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